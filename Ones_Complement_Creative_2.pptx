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3" dt="2026-08-25T15:19:31.427"/>
    <p1510:client id="{8BB5BF51-3AB7-EDB4-20A2-863096170A40}" v="69" dt="2026-08-25T14:49:30.550"/>
    <p1510:client id="{90AEC334-2414-23FF-E4E5-08593884ED0F}" v="3" dt="2026-08-26T08:20:22.970"/>
    <p1510:client id="{E39C7463-CB32-457E-9C73-ADF5B7EEED94}" v="8" dt="2026-08-26T08:22:30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1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idasyuteshkumar-collab/Design-and-Simulation-of-8-bit-Signed-Binary-Number-Representation-Using-One-s-Complement-Metho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nescomplement3/assets/bg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64FFDA"/>
                </a:solidFill>
                <a:latin typeface="Calibri"/>
                <a:ea typeface="Calibri"/>
                <a:cs typeface="Calibri"/>
              </a:rPr>
              <a:t>8-BIT SIGNED BINARY NUMBER REPRESENTATION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" name="Text 1"/>
          <p:cNvSpPr/>
          <p:nvPr/>
        </p:nvSpPr>
        <p:spPr>
          <a:xfrm>
            <a:off x="822960" y="18745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Simulation </a:t>
            </a:r>
            <a:r>
              <a:rPr lang="en-US" sz="3800" b="1">
                <a:solidFill>
                  <a:srgbClr val="64F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</a:t>
            </a:r>
            <a:endParaRPr lang="en-US" sz="380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64F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One's Complement Method</a:t>
            </a:r>
            <a:endParaRPr lang="en-US" sz="3800"/>
          </a:p>
        </p:txBody>
      </p:sp>
      <p:sp>
        <p:nvSpPr>
          <p:cNvPr id="5" name="Shape 2"/>
          <p:cNvSpPr/>
          <p:nvPr/>
        </p:nvSpPr>
        <p:spPr>
          <a:xfrm>
            <a:off x="822960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16305F"/>
          </a:solidFill>
          <a:ln w="22225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7" name="Shape 4"/>
          <p:cNvSpPr/>
          <p:nvPr/>
        </p:nvSpPr>
        <p:spPr>
          <a:xfrm>
            <a:off x="1362456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62456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9" name="Shape 6"/>
          <p:cNvSpPr/>
          <p:nvPr/>
        </p:nvSpPr>
        <p:spPr>
          <a:xfrm>
            <a:off x="1901952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01952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11" name="Shape 8"/>
          <p:cNvSpPr/>
          <p:nvPr/>
        </p:nvSpPr>
        <p:spPr>
          <a:xfrm>
            <a:off x="2441448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41448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13" name="Shape 10"/>
          <p:cNvSpPr/>
          <p:nvPr/>
        </p:nvSpPr>
        <p:spPr>
          <a:xfrm>
            <a:off x="2980944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980944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15" name="Shape 12"/>
          <p:cNvSpPr/>
          <p:nvPr/>
        </p:nvSpPr>
        <p:spPr>
          <a:xfrm>
            <a:off x="3520440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2044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17" name="Shape 14"/>
          <p:cNvSpPr/>
          <p:nvPr/>
        </p:nvSpPr>
        <p:spPr>
          <a:xfrm>
            <a:off x="4059936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059936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19" name="Shape 16"/>
          <p:cNvSpPr/>
          <p:nvPr/>
        </p:nvSpPr>
        <p:spPr>
          <a:xfrm>
            <a:off x="4599432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99432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21" name="Shape 18"/>
          <p:cNvSpPr/>
          <p:nvPr/>
        </p:nvSpPr>
        <p:spPr>
          <a:xfrm>
            <a:off x="5532120" y="4087368"/>
            <a:ext cx="457200" cy="329184"/>
          </a:xfrm>
          <a:prstGeom prst="rightArrow">
            <a:avLst/>
          </a:prstGeom>
          <a:solidFill>
            <a:srgbClr val="FF6584"/>
          </a:solidFill>
          <a:ln/>
        </p:spPr>
      </p:sp>
      <p:sp>
        <p:nvSpPr>
          <p:cNvPr id="22" name="Shape 19"/>
          <p:cNvSpPr/>
          <p:nvPr/>
        </p:nvSpPr>
        <p:spPr>
          <a:xfrm>
            <a:off x="6172200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3A1830"/>
          </a:solidFill>
          <a:ln w="22225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7220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24" name="Shape 21"/>
          <p:cNvSpPr/>
          <p:nvPr/>
        </p:nvSpPr>
        <p:spPr>
          <a:xfrm>
            <a:off x="6711696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711696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26" name="Shape 23"/>
          <p:cNvSpPr/>
          <p:nvPr/>
        </p:nvSpPr>
        <p:spPr>
          <a:xfrm>
            <a:off x="7251192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251192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28" name="Shape 25"/>
          <p:cNvSpPr/>
          <p:nvPr/>
        </p:nvSpPr>
        <p:spPr>
          <a:xfrm>
            <a:off x="7790688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90688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30" name="Shape 27"/>
          <p:cNvSpPr/>
          <p:nvPr/>
        </p:nvSpPr>
        <p:spPr>
          <a:xfrm>
            <a:off x="8330184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330184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32" name="Shape 29"/>
          <p:cNvSpPr/>
          <p:nvPr/>
        </p:nvSpPr>
        <p:spPr>
          <a:xfrm>
            <a:off x="8869680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86968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34" name="Shape 31"/>
          <p:cNvSpPr/>
          <p:nvPr/>
        </p:nvSpPr>
        <p:spPr>
          <a:xfrm>
            <a:off x="9409176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409176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/>
          </a:p>
        </p:txBody>
      </p:sp>
      <p:sp>
        <p:nvSpPr>
          <p:cNvPr id="36" name="Shape 33"/>
          <p:cNvSpPr/>
          <p:nvPr/>
        </p:nvSpPr>
        <p:spPr>
          <a:xfrm>
            <a:off x="9948672" y="3977640"/>
            <a:ext cx="457200" cy="548640"/>
          </a:xfrm>
          <a:prstGeom prst="roundRect">
            <a:avLst>
              <a:gd name="adj" fmla="val 14000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948672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/>
          </a:p>
        </p:txBody>
      </p:sp>
      <p:sp>
        <p:nvSpPr>
          <p:cNvPr id="38" name="Text 35"/>
          <p:cNvSpPr/>
          <p:nvPr/>
        </p:nvSpPr>
        <p:spPr>
          <a:xfrm>
            <a:off x="82296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200"/>
          </a:p>
        </p:txBody>
      </p:sp>
      <p:sp>
        <p:nvSpPr>
          <p:cNvPr id="39" name="Text 36"/>
          <p:cNvSpPr/>
          <p:nvPr/>
        </p:nvSpPr>
        <p:spPr>
          <a:xfrm>
            <a:off x="617220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 ·  every bit inverted</a:t>
            </a:r>
            <a:endParaRPr lang="en-US" sz="1200"/>
          </a:p>
        </p:txBody>
      </p:sp>
      <p:sp>
        <p:nvSpPr>
          <p:cNvPr id="40" name="Shape 37"/>
          <p:cNvSpPr/>
          <p:nvPr/>
        </p:nvSpPr>
        <p:spPr>
          <a:xfrm>
            <a:off x="822960" y="5989320"/>
            <a:ext cx="502920" cy="0"/>
          </a:xfrm>
          <a:prstGeom prst="line">
            <a:avLst/>
          </a:prstGeom>
          <a:noFill/>
          <a:ln w="25400">
            <a:solidFill>
              <a:srgbClr val="64FFD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46304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C7D4EC"/>
                </a:solidFill>
                <a:latin typeface="Calibri"/>
                <a:ea typeface="Calibri"/>
                <a:cs typeface="Calibri"/>
              </a:rPr>
              <a:t>K. Sri Vyshnavi   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>
                <a:solidFill>
                  <a:srgbClr val="C7D4EC"/>
                </a:solidFill>
                <a:latin typeface="Calibri"/>
                <a:ea typeface="Calibri"/>
                <a:cs typeface="Calibri"/>
              </a:rPr>
              <a:t>B. Aviyah</a:t>
            </a:r>
          </a:p>
          <a:p>
            <a:r>
              <a:rPr lang="en-US" sz="1200">
                <a:solidFill>
                  <a:srgbClr val="C7D4EC"/>
                </a:solidFill>
                <a:latin typeface="Calibri"/>
                <a:ea typeface="Calibri"/>
                <a:cs typeface="Calibri"/>
              </a:rPr>
              <a:t>V. Bhargav Krishna</a:t>
            </a:r>
          </a:p>
          <a:p>
            <a:r>
              <a:rPr lang="en-US" sz="1200">
                <a:solidFill>
                  <a:srgbClr val="C7D4EC"/>
                </a:solidFill>
                <a:latin typeface="Calibri"/>
                <a:ea typeface="Calibri"/>
                <a:cs typeface="Calibri"/>
              </a:rPr>
              <a:t>K. Yutesh Kumar</a:t>
            </a:r>
          </a:p>
          <a:p>
            <a:r>
              <a:rPr lang="en-US" sz="1200">
                <a:solidFill>
                  <a:srgbClr val="C7D4EC"/>
                </a:solidFill>
                <a:latin typeface="Calibri"/>
                <a:ea typeface="Calibri"/>
                <a:cs typeface="Calibri"/>
              </a:rPr>
              <a:t>                               |  BTech CSE, KLH University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Problem Statement</a:t>
            </a:r>
            <a:endParaRPr lang="en-US" sz="3200">
              <a:solidFill>
                <a:schemeClr val="bg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0A192F"/>
          </a:solidFill>
          <a:ln>
            <a:solidFill>
              <a:srgbClr val="4472C4"/>
            </a:solidFill>
          </a:ln>
          <a:effectLst>
            <a:outerShdw blurRad="127000" dist="38100" dir="5400000" algn="bl" rotWithShape="0">
              <a:srgbClr val="0A192F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847088"/>
            <a:ext cx="603504" cy="603504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/>
          </a:p>
        </p:txBody>
      </p:sp>
      <p:sp>
        <p:nvSpPr>
          <p:cNvPr id="8" name="Text 5"/>
          <p:cNvSpPr/>
          <p:nvPr/>
        </p:nvSpPr>
        <p:spPr>
          <a:xfrm>
            <a:off x="1691640" y="1755648"/>
            <a:ext cx="9646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hardware only stores 0s and 1s — there's no dedicated symbol for a minus sign. We need a reliable, hardware-friendly way to represent both positive and negative integers inside a single 8-bit register.</a:t>
            </a:r>
            <a:endParaRPr lang="en-US" sz="135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6263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204972"/>
            <a:ext cx="493776" cy="493776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2049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1600200" y="3154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sign bit</a:t>
            </a:r>
            <a:endParaRPr lang="en-US" sz="1450"/>
          </a:p>
        </p:txBody>
      </p:sp>
      <p:sp>
        <p:nvSpPr>
          <p:cNvPr id="13" name="Text 10"/>
          <p:cNvSpPr/>
          <p:nvPr/>
        </p:nvSpPr>
        <p:spPr>
          <a:xfrm>
            <a:off x="1600200" y="34655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hardware has no built-in way to mark a value as negative.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640080" y="3977640"/>
            <a:ext cx="6263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96112" y="4119372"/>
            <a:ext cx="493776" cy="493776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" y="41193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7" name="Text 14"/>
          <p:cNvSpPr/>
          <p:nvPr/>
        </p:nvSpPr>
        <p:spPr>
          <a:xfrm>
            <a:off x="1600200" y="4069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defined convention</a:t>
            </a:r>
            <a:endParaRPr lang="en-US" sz="1450"/>
          </a:p>
        </p:txBody>
      </p:sp>
      <p:sp>
        <p:nvSpPr>
          <p:cNvPr id="18" name="Text 15"/>
          <p:cNvSpPr/>
          <p:nvPr/>
        </p:nvSpPr>
        <p:spPr>
          <a:xfrm>
            <a:off x="1600200" y="43799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One's complement (bit inversion) is proposed as the encoding rule to test.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640080" y="4892040"/>
            <a:ext cx="6263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96112" y="5033772"/>
            <a:ext cx="493776" cy="493776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21" name="Text 18"/>
          <p:cNvSpPr/>
          <p:nvPr/>
        </p:nvSpPr>
        <p:spPr>
          <a:xfrm>
            <a:off x="896112" y="50337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22" name="Text 19"/>
          <p:cNvSpPr/>
          <p:nvPr/>
        </p:nvSpPr>
        <p:spPr>
          <a:xfrm>
            <a:off x="1600200" y="4983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correctness</a:t>
            </a:r>
            <a:endParaRPr lang="en-US" sz="1450"/>
          </a:p>
        </p:txBody>
      </p:sp>
      <p:sp>
        <p:nvSpPr>
          <p:cNvPr id="23" name="Text 20"/>
          <p:cNvSpPr/>
          <p:nvPr/>
        </p:nvSpPr>
        <p:spPr>
          <a:xfrm>
            <a:off x="1600200" y="52943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must confirm correct representation and addition, including ±0.</a:t>
            </a:r>
            <a:endParaRPr lang="en-US" sz="1150"/>
          </a:p>
        </p:txBody>
      </p:sp>
      <p:sp>
        <p:nvSpPr>
          <p:cNvPr id="24" name="Shape 21"/>
          <p:cNvSpPr/>
          <p:nvPr/>
        </p:nvSpPr>
        <p:spPr>
          <a:xfrm>
            <a:off x="7178040" y="3063240"/>
            <a:ext cx="4343400" cy="2606040"/>
          </a:xfrm>
          <a:prstGeom prst="roundRect">
            <a:avLst>
              <a:gd name="adj" fmla="val 3509"/>
            </a:avLst>
          </a:prstGeom>
          <a:solidFill>
            <a:srgbClr val="0A192F"/>
          </a:solidFill>
          <a:ln/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452360" y="32644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ANATOMY</a:t>
            </a:r>
            <a:endParaRPr lang="en-US" sz="1100"/>
          </a:p>
        </p:txBody>
      </p:sp>
      <p:sp>
        <p:nvSpPr>
          <p:cNvPr id="26" name="Shape 23"/>
          <p:cNvSpPr/>
          <p:nvPr/>
        </p:nvSpPr>
        <p:spPr>
          <a:xfrm>
            <a:off x="7452360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FF6584"/>
          </a:solidFill>
          <a:ln w="22225">
            <a:solidFill>
              <a:srgbClr val="64FF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400"/>
          </a:p>
        </p:txBody>
      </p:sp>
      <p:sp>
        <p:nvSpPr>
          <p:cNvPr id="28" name="Shape 25"/>
          <p:cNvSpPr/>
          <p:nvPr/>
        </p:nvSpPr>
        <p:spPr>
          <a:xfrm>
            <a:off x="7895844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95844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30" name="Shape 27"/>
          <p:cNvSpPr/>
          <p:nvPr/>
        </p:nvSpPr>
        <p:spPr>
          <a:xfrm>
            <a:off x="8339328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9328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32" name="Shape 29"/>
          <p:cNvSpPr/>
          <p:nvPr/>
        </p:nvSpPr>
        <p:spPr>
          <a:xfrm>
            <a:off x="8782812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82812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34" name="Shape 31"/>
          <p:cNvSpPr/>
          <p:nvPr/>
        </p:nvSpPr>
        <p:spPr>
          <a:xfrm>
            <a:off x="9226296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26296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36" name="Shape 33"/>
          <p:cNvSpPr/>
          <p:nvPr/>
        </p:nvSpPr>
        <p:spPr>
          <a:xfrm>
            <a:off x="9669780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/>
          </a:p>
        </p:txBody>
      </p:sp>
      <p:sp>
        <p:nvSpPr>
          <p:cNvPr id="38" name="Shape 35"/>
          <p:cNvSpPr/>
          <p:nvPr/>
        </p:nvSpPr>
        <p:spPr>
          <a:xfrm>
            <a:off x="10113264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13264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40" name="Shape 37"/>
          <p:cNvSpPr/>
          <p:nvPr/>
        </p:nvSpPr>
        <p:spPr>
          <a:xfrm>
            <a:off x="10556748" y="3630168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556748" y="3630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/>
          </a:p>
        </p:txBody>
      </p:sp>
      <p:sp>
        <p:nvSpPr>
          <p:cNvPr id="42" name="Text 39"/>
          <p:cNvSpPr/>
          <p:nvPr/>
        </p:nvSpPr>
        <p:spPr>
          <a:xfrm>
            <a:off x="7434072" y="4123944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900"/>
          </a:p>
        </p:txBody>
      </p:sp>
      <p:sp>
        <p:nvSpPr>
          <p:cNvPr id="43" name="Text 40"/>
          <p:cNvSpPr/>
          <p:nvPr/>
        </p:nvSpPr>
        <p:spPr>
          <a:xfrm>
            <a:off x="7895844" y="4123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— 7 bits</a:t>
            </a:r>
            <a:endParaRPr lang="en-US" sz="900"/>
          </a:p>
        </p:txBody>
      </p:sp>
      <p:sp>
        <p:nvSpPr>
          <p:cNvPr id="44" name="Shape 41"/>
          <p:cNvSpPr/>
          <p:nvPr/>
        </p:nvSpPr>
        <p:spPr>
          <a:xfrm>
            <a:off x="7452360" y="4544568"/>
            <a:ext cx="379476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52360" y="4681728"/>
            <a:ext cx="3794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0000 – 0111 1111</a:t>
            </a:r>
            <a:endParaRPr lang="en-US" sz="1150"/>
          </a:p>
          <a:p>
            <a:pPr marL="0" indent="0">
              <a:lnSpc>
                <a:spcPct val="128000"/>
              </a:lnSpc>
              <a:buNone/>
            </a:pPr>
            <a:r>
              <a:rPr lang="en-US" sz="115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 to +127</a:t>
            </a:r>
            <a:endParaRPr lang="en-US" sz="1150"/>
          </a:p>
          <a:p>
            <a:pPr marL="0" indent="0">
              <a:lnSpc>
                <a:spcPct val="128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0000 – 1111 1111</a:t>
            </a:r>
            <a:endParaRPr lang="en-US" sz="1150"/>
          </a:p>
          <a:p>
            <a:pPr marL="0" indent="0">
              <a:lnSpc>
                <a:spcPct val="128000"/>
              </a:lnSpc>
              <a:buNone/>
            </a:pPr>
            <a:r>
              <a:rPr lang="en-US" sz="1150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−0 to −127</a:t>
            </a:r>
            <a:endParaRPr lang="en-US" sz="1150"/>
          </a:p>
        </p:txBody>
      </p:sp>
      <p:sp>
        <p:nvSpPr>
          <p:cNvPr id="46" name="Text 43"/>
          <p:cNvSpPr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0A8C7A"/>
                </a:solidFill>
                <a:latin typeface="Calibri"/>
                <a:ea typeface="Calibri"/>
                <a:cs typeface="Calibri"/>
              </a:rPr>
              <a:t>Objective   </a:t>
            </a:r>
            <a:r>
              <a:rPr lang="en-US" sz="13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Design a circuit and simulate it to represent, and correctly add, 8-bit signed numbers using one's complement.</a:t>
            </a:r>
            <a:endParaRPr lang="en-US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101852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06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APPROACH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Design &amp; Methodology</a:t>
            </a:r>
            <a:endParaRPr lang="en-US" sz="3200">
              <a:solidFill>
                <a:schemeClr val="bg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path through the circuit, from raw input to the final displayed result.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920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99032" y="2084832"/>
            <a:ext cx="402336" cy="402336"/>
          </a:xfrm>
          <a:prstGeom prst="hexagon">
            <a:avLst/>
          </a:prstGeom>
          <a:solidFill>
            <a:srgbClr val="16305F"/>
          </a:solidFill>
          <a:ln/>
        </p:spPr>
      </p:sp>
      <p:sp>
        <p:nvSpPr>
          <p:cNvPr id="8" name="Text 5"/>
          <p:cNvSpPr/>
          <p:nvPr/>
        </p:nvSpPr>
        <p:spPr>
          <a:xfrm>
            <a:off x="139903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749808" y="257860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Input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749808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number set on input pins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2587752" y="2551176"/>
            <a:ext cx="164592" cy="201168"/>
          </a:xfrm>
          <a:prstGeom prst="rightArrow">
            <a:avLst/>
          </a:prstGeom>
          <a:solidFill>
            <a:srgbClr val="FF6584"/>
          </a:solidFill>
          <a:ln/>
        </p:spPr>
      </p:sp>
      <p:sp>
        <p:nvSpPr>
          <p:cNvPr id="12" name="Shape 9"/>
          <p:cNvSpPr/>
          <p:nvPr/>
        </p:nvSpPr>
        <p:spPr>
          <a:xfrm>
            <a:off x="2779776" y="1920240"/>
            <a:ext cx="1920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8728" y="2084832"/>
            <a:ext cx="402336" cy="402336"/>
          </a:xfrm>
          <a:prstGeom prst="hexagon">
            <a:avLst/>
          </a:prstGeom>
          <a:solidFill>
            <a:srgbClr val="16305F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2889504" y="257860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Inverter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>
          <a:xfrm>
            <a:off x="2889504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NOT/XOR gates flip bits for negative form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4727448" y="2551176"/>
            <a:ext cx="164592" cy="201168"/>
          </a:xfrm>
          <a:prstGeom prst="rightArrow">
            <a:avLst/>
          </a:prstGeom>
          <a:solidFill>
            <a:srgbClr val="FF6584"/>
          </a:solidFill>
          <a:ln/>
        </p:spPr>
      </p:sp>
      <p:sp>
        <p:nvSpPr>
          <p:cNvPr id="18" name="Shape 15"/>
          <p:cNvSpPr/>
          <p:nvPr/>
        </p:nvSpPr>
        <p:spPr>
          <a:xfrm>
            <a:off x="4919472" y="1920240"/>
            <a:ext cx="1920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78424" y="2084832"/>
            <a:ext cx="402336" cy="402336"/>
          </a:xfrm>
          <a:prstGeom prst="hexagon">
            <a:avLst/>
          </a:prstGeom>
          <a:solidFill>
            <a:srgbClr val="16305F"/>
          </a:solidFill>
          <a:ln/>
        </p:spPr>
      </p:sp>
      <p:sp>
        <p:nvSpPr>
          <p:cNvPr id="20" name="Text 17"/>
          <p:cNvSpPr/>
          <p:nvPr/>
        </p:nvSpPr>
        <p:spPr>
          <a:xfrm>
            <a:off x="5678424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1" name="Text 18"/>
          <p:cNvSpPr/>
          <p:nvPr/>
        </p:nvSpPr>
        <p:spPr>
          <a:xfrm>
            <a:off x="5029200" y="257860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Adder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>
          <a:xfrm>
            <a:off x="5029200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full adders sum both operands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6867144" y="2551176"/>
            <a:ext cx="164592" cy="201168"/>
          </a:xfrm>
          <a:prstGeom prst="rightArrow">
            <a:avLst/>
          </a:prstGeom>
          <a:solidFill>
            <a:srgbClr val="FF6584"/>
          </a:solidFill>
          <a:ln/>
        </p:spPr>
      </p:sp>
      <p:sp>
        <p:nvSpPr>
          <p:cNvPr id="24" name="Shape 21"/>
          <p:cNvSpPr/>
          <p:nvPr/>
        </p:nvSpPr>
        <p:spPr>
          <a:xfrm>
            <a:off x="7059168" y="1920240"/>
            <a:ext cx="1920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818120" y="2084832"/>
            <a:ext cx="402336" cy="402336"/>
          </a:xfrm>
          <a:prstGeom prst="hexagon">
            <a:avLst/>
          </a:prstGeom>
          <a:solidFill>
            <a:srgbClr val="16305F"/>
          </a:solidFill>
          <a:ln/>
        </p:spPr>
      </p:sp>
      <p:sp>
        <p:nvSpPr>
          <p:cNvPr id="26" name="Text 23"/>
          <p:cNvSpPr/>
          <p:nvPr/>
        </p:nvSpPr>
        <p:spPr>
          <a:xfrm>
            <a:off x="781812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7168896" y="257860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End-Around Carry</a:t>
            </a:r>
            <a:endParaRPr lang="en-US" sz="1250"/>
          </a:p>
        </p:txBody>
      </p:sp>
      <p:sp>
        <p:nvSpPr>
          <p:cNvPr id="28" name="Text 25"/>
          <p:cNvSpPr/>
          <p:nvPr/>
        </p:nvSpPr>
        <p:spPr>
          <a:xfrm>
            <a:off x="7168896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Carry-out looped back into the LSB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9006840" y="2551176"/>
            <a:ext cx="164592" cy="201168"/>
          </a:xfrm>
          <a:prstGeom prst="rightArrow">
            <a:avLst/>
          </a:prstGeom>
          <a:solidFill>
            <a:srgbClr val="FF6584"/>
          </a:solidFill>
          <a:ln/>
        </p:spPr>
      </p:sp>
      <p:sp>
        <p:nvSpPr>
          <p:cNvPr id="30" name="Shape 27"/>
          <p:cNvSpPr/>
          <p:nvPr/>
        </p:nvSpPr>
        <p:spPr>
          <a:xfrm>
            <a:off x="9198864" y="1920240"/>
            <a:ext cx="1920240" cy="1463040"/>
          </a:xfrm>
          <a:prstGeom prst="roundRect">
            <a:avLst>
              <a:gd name="adj" fmla="val 5625"/>
            </a:avLst>
          </a:prstGeom>
          <a:solidFill>
            <a:srgbClr val="0A192F"/>
          </a:solidFill>
          <a:ln w="12700">
            <a:solidFill>
              <a:srgbClr val="1B3A6B"/>
            </a:solidFill>
            <a:prstDash val="solid"/>
          </a:ln>
          <a:effectLst>
            <a:outerShdw blurRad="889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957816" y="2084832"/>
            <a:ext cx="402336" cy="402336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32" name="Text 29"/>
          <p:cNvSpPr/>
          <p:nvPr/>
        </p:nvSpPr>
        <p:spPr>
          <a:xfrm>
            <a:off x="9957816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33" name="Text 30"/>
          <p:cNvSpPr/>
          <p:nvPr/>
        </p:nvSpPr>
        <p:spPr>
          <a:xfrm>
            <a:off x="9308592" y="257860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Display</a:t>
            </a:r>
            <a:endParaRPr lang="en-US" sz="1250"/>
          </a:p>
        </p:txBody>
      </p:sp>
      <p:sp>
        <p:nvSpPr>
          <p:cNvPr id="34" name="Text 31"/>
          <p:cNvSpPr/>
          <p:nvPr/>
        </p:nvSpPr>
        <p:spPr>
          <a:xfrm>
            <a:off x="9308592" y="29260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on 8 output LEDs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64008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00000101</a:t>
            </a:r>
            <a:endParaRPr lang="en-US" sz="1050"/>
          </a:p>
        </p:txBody>
      </p:sp>
      <p:sp>
        <p:nvSpPr>
          <p:cNvPr id="36" name="Text 33"/>
          <p:cNvSpPr/>
          <p:nvPr/>
        </p:nvSpPr>
        <p:spPr>
          <a:xfrm>
            <a:off x="2779776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11111100</a:t>
            </a:r>
            <a:endParaRPr lang="en-US" sz="1050"/>
          </a:p>
        </p:txBody>
      </p:sp>
      <p:sp>
        <p:nvSpPr>
          <p:cNvPr id="37" name="Text 34"/>
          <p:cNvSpPr/>
          <p:nvPr/>
        </p:nvSpPr>
        <p:spPr>
          <a:xfrm>
            <a:off x="4919472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1 0000 0001</a:t>
            </a:r>
            <a:endParaRPr lang="en-US" sz="1050"/>
          </a:p>
        </p:txBody>
      </p:sp>
      <p:sp>
        <p:nvSpPr>
          <p:cNvPr id="38" name="Text 35"/>
          <p:cNvSpPr/>
          <p:nvPr/>
        </p:nvSpPr>
        <p:spPr>
          <a:xfrm>
            <a:off x="7059168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→ LSB</a:t>
            </a:r>
            <a:endParaRPr lang="en-US" sz="1050"/>
          </a:p>
        </p:txBody>
      </p:sp>
      <p:sp>
        <p:nvSpPr>
          <p:cNvPr id="39" name="Text 36"/>
          <p:cNvSpPr/>
          <p:nvPr/>
        </p:nvSpPr>
        <p:spPr>
          <a:xfrm>
            <a:off x="9198864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8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00000010</a:t>
            </a:r>
            <a:endParaRPr lang="en-US" sz="1050"/>
          </a:p>
        </p:txBody>
      </p:sp>
      <p:sp>
        <p:nvSpPr>
          <p:cNvPr id="40" name="Text 37"/>
          <p:cNvSpPr/>
          <p:nvPr/>
        </p:nvSpPr>
        <p:spPr>
          <a:xfrm>
            <a:off x="640080" y="378561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5 + (−3) traced through each stage</a:t>
            </a:r>
            <a:endParaRPr lang="en-US" sz="1000"/>
          </a:p>
        </p:txBody>
      </p:sp>
      <p:sp>
        <p:nvSpPr>
          <p:cNvPr id="41" name="Shape 38"/>
          <p:cNvSpPr/>
          <p:nvPr/>
        </p:nvSpPr>
        <p:spPr>
          <a:xfrm>
            <a:off x="640080" y="416052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914400" y="4315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STEPS</a:t>
            </a:r>
            <a:endParaRPr lang="en-US" sz="1100"/>
          </a:p>
        </p:txBody>
      </p:sp>
      <p:sp>
        <p:nvSpPr>
          <p:cNvPr id="43" name="Text 40"/>
          <p:cNvSpPr/>
          <p:nvPr/>
        </p:nvSpPr>
        <p:spPr>
          <a:xfrm>
            <a:off x="914400" y="46451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/>
          </a:p>
        </p:txBody>
      </p:sp>
      <p:sp>
        <p:nvSpPr>
          <p:cNvPr id="44" name="Text 41"/>
          <p:cNvSpPr/>
          <p:nvPr/>
        </p:nvSpPr>
        <p:spPr>
          <a:xfrm>
            <a:off x="1280160" y="46451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8-bit format: bit 7 = sign, bits 6-0 = magnitude.</a:t>
            </a:r>
            <a:endParaRPr lang="en-US" sz="1250"/>
          </a:p>
        </p:txBody>
      </p:sp>
      <p:sp>
        <p:nvSpPr>
          <p:cNvPr id="45" name="Text 42"/>
          <p:cNvSpPr/>
          <p:nvPr/>
        </p:nvSpPr>
        <p:spPr>
          <a:xfrm>
            <a:off x="914400" y="497890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/>
          </a:p>
        </p:txBody>
      </p:sp>
      <p:sp>
        <p:nvSpPr>
          <p:cNvPr id="46" name="Text 43"/>
          <p:cNvSpPr/>
          <p:nvPr/>
        </p:nvSpPr>
        <p:spPr>
          <a:xfrm>
            <a:off x="1280160" y="497890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bit-inversion logic (NOT gates) to generate negative values.</a:t>
            </a:r>
            <a:endParaRPr lang="en-US" sz="1250"/>
          </a:p>
        </p:txBody>
      </p:sp>
      <p:sp>
        <p:nvSpPr>
          <p:cNvPr id="47" name="Text 44"/>
          <p:cNvSpPr/>
          <p:nvPr/>
        </p:nvSpPr>
        <p:spPr>
          <a:xfrm>
            <a:off x="914400" y="531266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/>
          </a:p>
        </p:txBody>
      </p:sp>
      <p:sp>
        <p:nvSpPr>
          <p:cNvPr id="48" name="Text 45"/>
          <p:cNvSpPr/>
          <p:nvPr/>
        </p:nvSpPr>
        <p:spPr>
          <a:xfrm>
            <a:off x="1280160" y="531266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an 8-bit ripple-carry adder from full-adder blocks.</a:t>
            </a:r>
            <a:endParaRPr lang="en-US" sz="1250"/>
          </a:p>
        </p:txBody>
      </p:sp>
      <p:sp>
        <p:nvSpPr>
          <p:cNvPr id="49" name="Text 46"/>
          <p:cNvSpPr/>
          <p:nvPr/>
        </p:nvSpPr>
        <p:spPr>
          <a:xfrm>
            <a:off x="914400" y="56464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/>
          </a:p>
        </p:txBody>
      </p:sp>
      <p:sp>
        <p:nvSpPr>
          <p:cNvPr id="50" name="Text 47"/>
          <p:cNvSpPr/>
          <p:nvPr/>
        </p:nvSpPr>
        <p:spPr>
          <a:xfrm>
            <a:off x="1280160" y="56464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final carry-out back into the adder's LSB input (end-around carry).</a:t>
            </a:r>
            <a:endParaRPr lang="en-US" sz="1250"/>
          </a:p>
        </p:txBody>
      </p:sp>
      <p:sp>
        <p:nvSpPr>
          <p:cNvPr id="51" name="Text 48"/>
          <p:cNvSpPr/>
          <p:nvPr/>
        </p:nvSpPr>
        <p:spPr>
          <a:xfrm>
            <a:off x="914400" y="598017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/>
          </a:p>
        </p:txBody>
      </p:sp>
      <p:sp>
        <p:nvSpPr>
          <p:cNvPr id="52" name="Text 49"/>
          <p:cNvSpPr/>
          <p:nvPr/>
        </p:nvSpPr>
        <p:spPr>
          <a:xfrm>
            <a:off x="1280160" y="598017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circuit in Logisim and verify results against manual calculations.</a:t>
            </a:r>
            <a:endParaRPr lang="en-US" sz="1250"/>
          </a:p>
        </p:txBody>
      </p:sp>
      <p:sp>
        <p:nvSpPr>
          <p:cNvPr id="53" name="Text 50"/>
          <p:cNvSpPr/>
          <p:nvPr/>
        </p:nvSpPr>
        <p:spPr>
          <a:xfrm>
            <a:off x="1101852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06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VERIFICATION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bg1"/>
                </a:solidFill>
                <a:latin typeface="Cambria"/>
                <a:ea typeface="Cambria"/>
                <a:cs typeface="Cambria" pitchFamily="34" charset="-120"/>
              </a:rPr>
              <a:t>Demo in Logisim</a:t>
            </a:r>
            <a:endParaRPr lang="en-US" sz="3200">
              <a:solidFill>
                <a:schemeClr val="bg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 simulated end-to-end: representation, inversion, and end-around-carry addition.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223137" y="1716369"/>
            <a:ext cx="8483600" cy="4526280"/>
          </a:xfrm>
          <a:prstGeom prst="roundRect">
            <a:avLst>
              <a:gd name="adj" fmla="val 2151"/>
            </a:avLst>
          </a:prstGeom>
          <a:solidFill>
            <a:srgbClr val="0A192F"/>
          </a:solidFill>
          <a:ln w="19050">
            <a:solidFill>
              <a:srgbClr val="64FFDA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3685032" y="2980383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2862072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3739896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4178808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4617720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21" name="Text 18"/>
          <p:cNvSpPr/>
          <p:nvPr/>
        </p:nvSpPr>
        <p:spPr>
          <a:xfrm>
            <a:off x="5056632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5495544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1097280" y="2999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/>
          </a:p>
        </p:txBody>
      </p:sp>
      <p:sp>
        <p:nvSpPr>
          <p:cNvPr id="25" name="Shape 22"/>
          <p:cNvSpPr/>
          <p:nvPr/>
        </p:nvSpPr>
        <p:spPr>
          <a:xfrm>
            <a:off x="3246120" y="3657600"/>
            <a:ext cx="1097280" cy="1097280"/>
          </a:xfrm>
          <a:prstGeom prst="hexagon">
            <a:avLst/>
          </a:prstGeom>
          <a:solidFill>
            <a:srgbClr val="16305F"/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46120" y="353872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⎘</a:t>
            </a:r>
            <a:endParaRPr lang="en-US" sz="3000"/>
          </a:p>
        </p:txBody>
      </p:sp>
      <p:sp>
        <p:nvSpPr>
          <p:cNvPr id="27" name="Text 24"/>
          <p:cNvSpPr/>
          <p:nvPr/>
        </p:nvSpPr>
        <p:spPr>
          <a:xfrm>
            <a:off x="1097280" y="4892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Logisim circuit screenshot here</a:t>
            </a:r>
            <a:endParaRPr lang="en-US" sz="1250"/>
          </a:p>
        </p:txBody>
      </p:sp>
      <p:sp>
        <p:nvSpPr>
          <p:cNvPr id="28" name="Text 25"/>
          <p:cNvSpPr/>
          <p:nvPr/>
        </p:nvSpPr>
        <p:spPr>
          <a:xfrm>
            <a:off x="109728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(.circ export or PNG capture)</a:t>
            </a:r>
            <a:endParaRPr lang="en-US" sz="1050"/>
          </a:p>
        </p:txBody>
      </p:sp>
      <p:sp>
        <p:nvSpPr>
          <p:cNvPr id="29" name="Text 26"/>
          <p:cNvSpPr/>
          <p:nvPr/>
        </p:nvSpPr>
        <p:spPr>
          <a:xfrm>
            <a:off x="9692640" y="1996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</a:t>
            </a:r>
            <a:endParaRPr lang="en-US" sz="1100"/>
          </a:p>
        </p:txBody>
      </p:sp>
      <p:sp>
        <p:nvSpPr>
          <p:cNvPr id="30" name="Shape 27"/>
          <p:cNvSpPr/>
          <p:nvPr/>
        </p:nvSpPr>
        <p:spPr>
          <a:xfrm>
            <a:off x="9357360" y="2548128"/>
            <a:ext cx="256032" cy="256032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31" name="Text 28"/>
          <p:cNvSpPr/>
          <p:nvPr/>
        </p:nvSpPr>
        <p:spPr>
          <a:xfrm>
            <a:off x="9694672" y="2493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Input pins set to +5 (00000101).</a:t>
            </a:r>
          </a:p>
        </p:txBody>
      </p:sp>
      <p:sp>
        <p:nvSpPr>
          <p:cNvPr id="32" name="Shape 29"/>
          <p:cNvSpPr/>
          <p:nvPr/>
        </p:nvSpPr>
        <p:spPr>
          <a:xfrm>
            <a:off x="9337040" y="3078480"/>
            <a:ext cx="256032" cy="256032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33" name="Text 30"/>
          <p:cNvSpPr/>
          <p:nvPr/>
        </p:nvSpPr>
        <p:spPr>
          <a:xfrm>
            <a:off x="9694672" y="3023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Inverter bank produces −5 (11111010).</a:t>
            </a:r>
          </a:p>
        </p:txBody>
      </p:sp>
      <p:sp>
        <p:nvSpPr>
          <p:cNvPr id="34" name="Shape 31"/>
          <p:cNvSpPr/>
          <p:nvPr/>
        </p:nvSpPr>
        <p:spPr>
          <a:xfrm>
            <a:off x="9337040" y="3639312"/>
            <a:ext cx="256032" cy="256032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35" name="Text 32"/>
          <p:cNvSpPr/>
          <p:nvPr/>
        </p:nvSpPr>
        <p:spPr>
          <a:xfrm>
            <a:off x="9694672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Adder circuit sums both operands.</a:t>
            </a:r>
          </a:p>
        </p:txBody>
      </p:sp>
      <p:sp>
        <p:nvSpPr>
          <p:cNvPr id="36" name="Shape 33"/>
          <p:cNvSpPr/>
          <p:nvPr/>
        </p:nvSpPr>
        <p:spPr>
          <a:xfrm>
            <a:off x="9337040" y="4149344"/>
            <a:ext cx="256032" cy="256032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37" name="Text 34"/>
          <p:cNvSpPr/>
          <p:nvPr/>
        </p:nvSpPr>
        <p:spPr>
          <a:xfrm>
            <a:off x="9694672" y="409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Carry-out wire loops back into the LSB.</a:t>
            </a:r>
          </a:p>
        </p:txBody>
      </p:sp>
      <p:sp>
        <p:nvSpPr>
          <p:cNvPr id="38" name="Shape 35"/>
          <p:cNvSpPr/>
          <p:nvPr/>
        </p:nvSpPr>
        <p:spPr>
          <a:xfrm>
            <a:off x="9357360" y="4578096"/>
            <a:ext cx="256032" cy="256032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39" name="Text 36"/>
          <p:cNvSpPr/>
          <p:nvPr/>
        </p:nvSpPr>
        <p:spPr>
          <a:xfrm>
            <a:off x="9694672" y="4523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Output LEDs confirm the corrected sum.</a:t>
            </a:r>
          </a:p>
        </p:txBody>
      </p:sp>
      <p:sp>
        <p:nvSpPr>
          <p:cNvPr id="44" name="Text 41"/>
          <p:cNvSpPr/>
          <p:nvPr/>
        </p:nvSpPr>
        <p:spPr>
          <a:xfrm>
            <a:off x="1101852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06</a:t>
            </a:r>
            <a:endParaRPr lang="en-US" sz="1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A2F6FF-61B1-4993-6AE4-01F4EA851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1698878"/>
            <a:ext cx="9093200" cy="4659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SOURCE &amp; DOCS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20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source, circuit files, and documentation, all in one place.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0574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⌥</a:t>
            </a:r>
            <a:endParaRPr lang="en-US" sz="2000"/>
          </a:p>
        </p:txBody>
      </p:sp>
      <p:sp>
        <p:nvSpPr>
          <p:cNvPr id="8" name="Text 5"/>
          <p:cNvSpPr/>
          <p:nvPr/>
        </p:nvSpPr>
        <p:spPr>
          <a:xfrm>
            <a:off x="1463040" y="20574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64FFDA"/>
                </a:solidFill>
                <a:ea typeface="+mn-lt"/>
                <a:cs typeface="+mn-lt"/>
                <a:hlinkClick r:id="rId3"/>
              </a:rPr>
              <a:t>https://github.com/kalidasyuteshkumar-collab/Design-and-Simulation-of-8-bit-Signed-Binary-Number-Representation-Using-One-s-Complement-Method</a:t>
            </a:r>
            <a:endParaRPr lang="en-US"/>
          </a:p>
          <a:p>
            <a:pPr marL="0" indent="0">
              <a:buNone/>
            </a:pPr>
            <a:endParaRPr lang="en-US" sz="1600">
              <a:solidFill>
                <a:srgbClr val="64FFDA"/>
              </a:solidFill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REPO CONTENTS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858768"/>
            <a:ext cx="365760" cy="365760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12" name="Text 9"/>
          <p:cNvSpPr/>
          <p:nvPr/>
        </p:nvSpPr>
        <p:spPr>
          <a:xfrm>
            <a:off x="1417320" y="38221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868680" y="42793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problem statement, and how to run the simulation.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5989320" y="365760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3858768"/>
            <a:ext cx="365760" cy="365760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38221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/circuit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6217920" y="42793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(.circ) file(s) for the 8-bit one's complement adder.</a:t>
            </a:r>
            <a:endParaRPr lang="en-US" sz="1150"/>
          </a:p>
        </p:txBody>
      </p:sp>
      <p:sp>
        <p:nvSpPr>
          <p:cNvPr id="18" name="Shape 15"/>
          <p:cNvSpPr/>
          <p:nvPr/>
        </p:nvSpPr>
        <p:spPr>
          <a:xfrm>
            <a:off x="640080" y="507492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276088"/>
            <a:ext cx="365760" cy="365760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20" name="Text 17"/>
          <p:cNvSpPr/>
          <p:nvPr/>
        </p:nvSpPr>
        <p:spPr>
          <a:xfrm>
            <a:off x="1417320" y="52395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/screenshots</a:t>
            </a:r>
            <a:endParaRPr lang="en-US" sz="1400"/>
          </a:p>
        </p:txBody>
      </p:sp>
      <p:sp>
        <p:nvSpPr>
          <p:cNvPr id="21" name="Text 18"/>
          <p:cNvSpPr/>
          <p:nvPr/>
        </p:nvSpPr>
        <p:spPr>
          <a:xfrm>
            <a:off x="868680" y="56967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of the circuit and sample test runs.</a:t>
            </a:r>
            <a:endParaRPr lang="en-US" sz="1150"/>
          </a:p>
        </p:txBody>
      </p:sp>
      <p:sp>
        <p:nvSpPr>
          <p:cNvPr id="22" name="Shape 19"/>
          <p:cNvSpPr/>
          <p:nvPr/>
        </p:nvSpPr>
        <p:spPr>
          <a:xfrm>
            <a:off x="5989320" y="507492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5276088"/>
            <a:ext cx="365760" cy="365760"/>
          </a:xfrm>
          <a:prstGeom prst="hexagon">
            <a:avLst/>
          </a:prstGeom>
          <a:solidFill>
            <a:srgbClr val="64FFDA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52395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400"/>
          </a:p>
        </p:txBody>
      </p:sp>
      <p:sp>
        <p:nvSpPr>
          <p:cNvPr id="25" name="Text 22"/>
          <p:cNvSpPr/>
          <p:nvPr/>
        </p:nvSpPr>
        <p:spPr>
          <a:xfrm>
            <a:off x="6217920" y="56967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report/presentation and any supporting notes.</a:t>
            </a:r>
            <a:endParaRPr lang="en-US" sz="1150"/>
          </a:p>
        </p:txBody>
      </p:sp>
      <p:sp>
        <p:nvSpPr>
          <p:cNvPr id="26" name="Text 23"/>
          <p:cNvSpPr/>
          <p:nvPr/>
        </p:nvSpPr>
        <p:spPr>
          <a:xfrm>
            <a:off x="1101852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06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QUESTIONS WELCOME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822960" y="26974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</a:t>
            </a:r>
            <a:r>
              <a:rPr lang="en-US" sz="5400" b="1">
                <a:solidFill>
                  <a:srgbClr val="64F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540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Signed Binary Number Representation — Design &amp; Simulation Using the One's Complement Method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4630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>
              <a:solidFill>
                <a:srgbClr val="C7D4EC"/>
              </a:solidFill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16305F"/>
          </a:solidFill>
          <a:ln w="22225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1271016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71016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1719072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719072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2167128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167128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16" name="Shape 13"/>
          <p:cNvSpPr/>
          <p:nvPr/>
        </p:nvSpPr>
        <p:spPr>
          <a:xfrm>
            <a:off x="2615184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615184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18" name="Shape 15"/>
          <p:cNvSpPr/>
          <p:nvPr/>
        </p:nvSpPr>
        <p:spPr>
          <a:xfrm>
            <a:off x="3063240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063240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/>
          </a:p>
        </p:txBody>
      </p:sp>
      <p:sp>
        <p:nvSpPr>
          <p:cNvPr id="20" name="Shape 17"/>
          <p:cNvSpPr/>
          <p:nvPr/>
        </p:nvSpPr>
        <p:spPr>
          <a:xfrm>
            <a:off x="3511296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511296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/>
          </a:p>
        </p:txBody>
      </p:sp>
      <p:sp>
        <p:nvSpPr>
          <p:cNvPr id="22" name="Shape 19"/>
          <p:cNvSpPr/>
          <p:nvPr/>
        </p:nvSpPr>
        <p:spPr>
          <a:xfrm>
            <a:off x="3959352" y="5212080"/>
            <a:ext cx="384048" cy="45720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64FFDA"/>
            </a:solidFill>
            <a:prstDash val="solid"/>
          </a:ln>
          <a:effectLst>
            <a:outerShdw blurRad="76200" dist="50800" dir="16200000" algn="bl" rotWithShape="0">
              <a:srgbClr val="64FFDA">
                <a:alpha val="4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959352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1101852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06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2026-08-25T13:49:26Z</dcterms:created>
  <dcterms:modified xsi:type="dcterms:W3CDTF">2026-08-26T09:38:40Z</dcterms:modified>
</cp:coreProperties>
</file>