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8844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a 4-bit adder made by chaining four full adders. The example in the corner (11 + 6 = 17) is worked through in detail later.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three goals: design the adder, explain how it works, and analyse the carry propagation delay. Each goal has its own slides later.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adder adds three bits: A, B and the carry-in from the previous stage. It produces a sum bit and a carry-out. Read the truth table row by row and point out that Cout is 1 in the four rows with two or more 1s.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half adders plus an OR gate make one full adder. P is the propagate signal and G is the generate signal. The path from Cin to Cout is only an AND followed by an OR, which is why each ripple stage costs 2 gate delays.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FA0 handles the least significant bits and FA3 the most significant. The carry (orange) travels right to left, one stage at a time, which is why the adder is called a ripple carry adder. Inputs are A3..A0 and B3..B0; outputs are S3..S0 and the final carry Cout.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bottom-up method: derive the 1-bit cell from its truth table, verify it, then replicate it four times. The same five steps are followed in the Logisim demo.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 1011 (11) and B = 0110 (6) with Cin = 0. FA0 gives sum 1 and no carry. FA1 adds 1 + 1 and produces sum 0 with carry 1. FA2 adds 0 + 1 + carry 1 and produces sum 0 with carry 1. FA3 adds 1 + 0 + carry 1 and produces sum 0 with carry 1. The final carry becomes the fifth bit, giving 10001 = 17.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gate delays. In FA0, A and B go through an XOR (1), then an AND with Cin (2), then the OR (3), so C1 is ready at 3. After that, every stage only adds the AND and OR on the Cin-to-Cout path, so C2 is at 5, C3 at 7 and C4 (Cout) at 9. The most significant sum bit S3 needs C3 plus one XOR, so it is ready at 8. In general Cout is ready after 2n + 1 gate delays, so the delay is proportional to the number of bits. In real hardware, multiply by the delay of one gate.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delay is linear in the number of bits: 9, 17, 33 and 65 gate delays for 4, 8, 16 and 32 bits. That is the main weakness of the ripple carry adder. For small widths it is cheap and simple; for wide adders designers use carry-lookahead or similar schemes.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Logisim demo here. Build or open the FullAdder sub-circuit first, then show the 4-bit circuit. Use the Poke tool to toggle A and B and read S and Cout. The next slide lists the test cases to run.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these inputs in Logisim and compare S and Cout with the table. The 1111 + 0001 case is the worst case because the carry has to ripple through all four stages before the result settles.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design is simple and uses few gates, the worst-case delay grows linearly with the number of bits, and carry-lookahead is the standard fix when speed matters.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placeholder with your real repository link before presenting. The file list is a suggested layout: put the Logisim .circ file, screenshots and these slides in the repository so others can reproduce the demo.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100" name="Circuit trace 100"/>
          <p:cNvSpPr/>
          <p:nvPr userDrawn="1"/>
        </p:nvSpPr>
        <p:spPr>
          <a:xfrm>
            <a:off x="0" y="160000"/>
            <a:ext cx="560000" cy="260000"/>
          </a:xfrm>
          <a:custGeom>
            <a:avLst/>
            <a:gdLst/>
            <a:ahLst/>
            <a:cxnLst/>
            <a:rect l="0" t="0" r="r" b="b"/>
            <a:pathLst>
              <a:path w="560000" h="260000" fill="none">
                <a:moveTo>
                  <a:pt x="0" y="0"/>
                </a:moveTo>
                <a:lnTo>
                  <a:pt x="430000" y="0"/>
                </a:lnTo>
                <a:lnTo>
                  <a:pt x="560000" y="130000"/>
                </a:lnTo>
                <a:lnTo>
                  <a:pt x="560000" y="260000"/>
                </a:lnTo>
              </a:path>
            </a:pathLst>
          </a:custGeom>
          <a:noFill/>
          <a:ln w="15875" cap="rnd">
            <a:solidFill>
              <a:srgbClr val="2BFF1A"/>
            </a:solidFill>
            <a:round/>
          </a:ln>
        </p:spPr>
      </p:sp>
      <p:sp>
        <p:nvSpPr>
          <p:cNvPr id="101" name="Circuit node 101"/>
          <p:cNvSpPr/>
          <p:nvPr userDrawn="1"/>
        </p:nvSpPr>
        <p:spPr>
          <a:xfrm>
            <a:off x="510000" y="370000"/>
            <a:ext cx="100000" cy="100000"/>
          </a:xfrm>
          <a:prstGeom prst="ellipse">
            <a:avLst/>
          </a:prstGeom>
          <a:noFill/>
          <a:ln w="15875">
            <a:solidFill>
              <a:srgbClr val="2BFF1A"/>
            </a:solidFill>
          </a:ln>
        </p:spPr>
      </p:sp>
      <p:sp>
        <p:nvSpPr>
          <p:cNvPr id="110" name="Circuit trace 110"/>
          <p:cNvSpPr/>
          <p:nvPr userDrawn="1"/>
        </p:nvSpPr>
        <p:spPr>
          <a:xfrm>
            <a:off x="11632000" y="160000"/>
            <a:ext cx="560000" cy="260000"/>
          </a:xfrm>
          <a:custGeom>
            <a:avLst/>
            <a:gdLst/>
            <a:ahLst/>
            <a:cxnLst/>
            <a:rect l="0" t="0" r="r" b="b"/>
            <a:pathLst>
              <a:path w="560000" h="260000" fill="none">
                <a:moveTo>
                  <a:pt x="560000" y="0"/>
                </a:moveTo>
                <a:lnTo>
                  <a:pt x="130000" y="0"/>
                </a:lnTo>
                <a:lnTo>
                  <a:pt x="0" y="130000"/>
                </a:lnTo>
                <a:lnTo>
                  <a:pt x="0" y="260000"/>
                </a:lnTo>
              </a:path>
            </a:pathLst>
          </a:custGeom>
          <a:noFill/>
          <a:ln w="15875" cap="rnd">
            <a:solidFill>
              <a:srgbClr val="2BFF1A"/>
            </a:solidFill>
            <a:round/>
          </a:ln>
        </p:spPr>
      </p:sp>
      <p:sp>
        <p:nvSpPr>
          <p:cNvPr id="111" name="Circuit node 111"/>
          <p:cNvSpPr/>
          <p:nvPr userDrawn="1"/>
        </p:nvSpPr>
        <p:spPr>
          <a:xfrm>
            <a:off x="11582000" y="370000"/>
            <a:ext cx="100000" cy="100000"/>
          </a:xfrm>
          <a:prstGeom prst="ellipse">
            <a:avLst/>
          </a:prstGeom>
          <a:noFill/>
          <a:ln w="15875">
            <a:solidFill>
              <a:srgbClr val="2BFF1A"/>
            </a:solidFill>
          </a:ln>
        </p:spPr>
      </p:sp>
      <p:sp>
        <p:nvSpPr>
          <p:cNvPr id="102" name="Circuit trace 102"/>
          <p:cNvSpPr/>
          <p:nvPr userDrawn="1"/>
        </p:nvSpPr>
        <p:spPr>
          <a:xfrm>
            <a:off x="0" y="270000"/>
            <a:ext cx="505000" cy="260000"/>
          </a:xfrm>
          <a:custGeom>
            <a:avLst/>
            <a:gdLst/>
            <a:ahLst/>
            <a:cxnLst/>
            <a:rect l="0" t="0" r="r" b="b"/>
            <a:pathLst>
              <a:path w="505000" h="260000" fill="none">
                <a:moveTo>
                  <a:pt x="0" y="0"/>
                </a:moveTo>
                <a:lnTo>
                  <a:pt x="375000" y="0"/>
                </a:lnTo>
                <a:lnTo>
                  <a:pt x="505000" y="130000"/>
                </a:lnTo>
                <a:lnTo>
                  <a:pt x="505000" y="260000"/>
                </a:lnTo>
              </a:path>
            </a:pathLst>
          </a:custGeom>
          <a:noFill/>
          <a:ln w="15875" cap="rnd">
            <a:solidFill>
              <a:srgbClr val="2BFF1A"/>
            </a:solidFill>
            <a:round/>
          </a:ln>
        </p:spPr>
      </p:sp>
      <p:sp>
        <p:nvSpPr>
          <p:cNvPr id="103" name="Circuit node 103"/>
          <p:cNvSpPr/>
          <p:nvPr userDrawn="1"/>
        </p:nvSpPr>
        <p:spPr>
          <a:xfrm>
            <a:off x="455000" y="480000"/>
            <a:ext cx="100000" cy="100000"/>
          </a:xfrm>
          <a:prstGeom prst="ellipse">
            <a:avLst/>
          </a:prstGeom>
          <a:noFill/>
          <a:ln w="15875">
            <a:solidFill>
              <a:srgbClr val="2BFF1A"/>
            </a:solidFill>
          </a:ln>
        </p:spPr>
      </p:sp>
      <p:sp>
        <p:nvSpPr>
          <p:cNvPr id="112" name="Circuit trace 112"/>
          <p:cNvSpPr/>
          <p:nvPr userDrawn="1"/>
        </p:nvSpPr>
        <p:spPr>
          <a:xfrm>
            <a:off x="11687000" y="270000"/>
            <a:ext cx="505000" cy="260000"/>
          </a:xfrm>
          <a:custGeom>
            <a:avLst/>
            <a:gdLst/>
            <a:ahLst/>
            <a:cxnLst/>
            <a:rect l="0" t="0" r="r" b="b"/>
            <a:pathLst>
              <a:path w="505000" h="260000" fill="none">
                <a:moveTo>
                  <a:pt x="505000" y="0"/>
                </a:moveTo>
                <a:lnTo>
                  <a:pt x="130000" y="0"/>
                </a:lnTo>
                <a:lnTo>
                  <a:pt x="0" y="130000"/>
                </a:lnTo>
                <a:lnTo>
                  <a:pt x="0" y="260000"/>
                </a:lnTo>
              </a:path>
            </a:pathLst>
          </a:custGeom>
          <a:noFill/>
          <a:ln w="15875" cap="rnd">
            <a:solidFill>
              <a:srgbClr val="2BFF1A"/>
            </a:solidFill>
            <a:round/>
          </a:ln>
        </p:spPr>
      </p:sp>
      <p:sp>
        <p:nvSpPr>
          <p:cNvPr id="113" name="Circuit node 113"/>
          <p:cNvSpPr/>
          <p:nvPr userDrawn="1"/>
        </p:nvSpPr>
        <p:spPr>
          <a:xfrm>
            <a:off x="11637000" y="480000"/>
            <a:ext cx="100000" cy="100000"/>
          </a:xfrm>
          <a:prstGeom prst="ellipse">
            <a:avLst/>
          </a:prstGeom>
          <a:noFill/>
          <a:ln w="15875">
            <a:solidFill>
              <a:srgbClr val="2BFF1A"/>
            </a:solidFill>
          </a:ln>
        </p:spPr>
      </p:sp>
      <p:sp>
        <p:nvSpPr>
          <p:cNvPr id="104" name="Circuit trace 104"/>
          <p:cNvSpPr/>
          <p:nvPr userDrawn="1"/>
        </p:nvSpPr>
        <p:spPr>
          <a:xfrm>
            <a:off x="0" y="380000"/>
            <a:ext cx="450000" cy="260000"/>
          </a:xfrm>
          <a:custGeom>
            <a:avLst/>
            <a:gdLst/>
            <a:ahLst/>
            <a:cxnLst/>
            <a:rect l="0" t="0" r="r" b="b"/>
            <a:pathLst>
              <a:path w="450000" h="260000" fill="none">
                <a:moveTo>
                  <a:pt x="0" y="0"/>
                </a:moveTo>
                <a:lnTo>
                  <a:pt x="320000" y="0"/>
                </a:lnTo>
                <a:lnTo>
                  <a:pt x="450000" y="130000"/>
                </a:lnTo>
                <a:lnTo>
                  <a:pt x="450000" y="260000"/>
                </a:lnTo>
              </a:path>
            </a:pathLst>
          </a:custGeom>
          <a:noFill/>
          <a:ln w="15875" cap="rnd">
            <a:solidFill>
              <a:srgbClr val="2BFF1A"/>
            </a:solidFill>
            <a:round/>
          </a:ln>
        </p:spPr>
      </p:sp>
      <p:sp>
        <p:nvSpPr>
          <p:cNvPr id="105" name="Circuit node 105"/>
          <p:cNvSpPr/>
          <p:nvPr userDrawn="1"/>
        </p:nvSpPr>
        <p:spPr>
          <a:xfrm>
            <a:off x="400000" y="590000"/>
            <a:ext cx="100000" cy="100000"/>
          </a:xfrm>
          <a:prstGeom prst="ellipse">
            <a:avLst/>
          </a:prstGeom>
          <a:noFill/>
          <a:ln w="15875">
            <a:solidFill>
              <a:srgbClr val="2BFF1A"/>
            </a:solidFill>
          </a:ln>
        </p:spPr>
      </p:sp>
      <p:sp>
        <p:nvSpPr>
          <p:cNvPr id="114" name="Circuit trace 114"/>
          <p:cNvSpPr/>
          <p:nvPr userDrawn="1"/>
        </p:nvSpPr>
        <p:spPr>
          <a:xfrm>
            <a:off x="11742000" y="380000"/>
            <a:ext cx="450000" cy="260000"/>
          </a:xfrm>
          <a:custGeom>
            <a:avLst/>
            <a:gdLst/>
            <a:ahLst/>
            <a:cxnLst/>
            <a:rect l="0" t="0" r="r" b="b"/>
            <a:pathLst>
              <a:path w="450000" h="260000" fill="none">
                <a:moveTo>
                  <a:pt x="450000" y="0"/>
                </a:moveTo>
                <a:lnTo>
                  <a:pt x="130000" y="0"/>
                </a:lnTo>
                <a:lnTo>
                  <a:pt x="0" y="130000"/>
                </a:lnTo>
                <a:lnTo>
                  <a:pt x="0" y="260000"/>
                </a:lnTo>
              </a:path>
            </a:pathLst>
          </a:custGeom>
          <a:noFill/>
          <a:ln w="15875" cap="rnd">
            <a:solidFill>
              <a:srgbClr val="2BFF1A"/>
            </a:solidFill>
            <a:round/>
          </a:ln>
        </p:spPr>
      </p:sp>
      <p:sp>
        <p:nvSpPr>
          <p:cNvPr id="115" name="Circuit node 115"/>
          <p:cNvSpPr/>
          <p:nvPr userDrawn="1"/>
        </p:nvSpPr>
        <p:spPr>
          <a:xfrm>
            <a:off x="11692000" y="590000"/>
            <a:ext cx="100000" cy="100000"/>
          </a:xfrm>
          <a:prstGeom prst="ellipse">
            <a:avLst/>
          </a:prstGeom>
          <a:noFill/>
          <a:ln w="15875">
            <a:solidFill>
              <a:srgbClr val="2BFF1A"/>
            </a:solid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21C2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502920"/>
          </a:xfrm>
          <a:prstGeom prst="rect">
            <a:avLst/>
          </a:prstGeom>
          <a:noFill/>
          <a:ln/>
        </p:spPr>
        <p:txBody>
          <a:bodyPr wrap="square" lIns="0" tIns="0" rIns="0" bIns="0" rtlCol="0" anchor="t"/>
          <a:lstStyle>
            <a:lvl1pPr marL="0" indent="0" algn="l">
              <a:lnSpc>
                <a:spcPct val="115000"/>
              </a:lnSpc>
              <a:buNone/>
              <a:defRPr lang="en-US" sz="3600" b="1" dirty="0">
                <a:solidFill>
                  <a:srgbClr val="2BFF1A"/>
                </a:solidFill>
                <a:latin typeface="Rajdhani" pitchFamily="34" charset="0"/>
                <a:ea typeface="Rajdhani" pitchFamily="34" charset="-122"/>
                <a:cs typeface="Rajdhani"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10081"/>
            <a:ext cx="10566400" cy="4135119"/>
          </a:xfrm>
          <a:prstGeom prst="rect">
            <a:avLst/>
          </a:prstGeom>
          <a:noFill/>
          <a:ln/>
        </p:spPr>
        <p:txBody>
          <a:bodyPr wrap="square" lIns="0" tIns="0" rIns="0" bIns="0" rtlCol="0" anchor="t"/>
          <a:lstStyle>
            <a:lvl1pPr marL="0" indent="0" algn="l">
              <a:lnSpc>
                <a:spcPct val="140000"/>
              </a:lnSpc>
              <a:buNone/>
              <a:defRPr lang="en-US" sz="1600" dirty="0">
                <a:solidFill>
                  <a:srgbClr val="F2F7F4"/>
                </a:solidFill>
                <a:latin typeface="Roboto Mono" pitchFamily="34" charset="0"/>
                <a:ea typeface="Roboto Mono" pitchFamily="34" charset="-122"/>
                <a:cs typeface="Roboto Mono" pitchFamily="34" charset="-120"/>
              </a:defRPr>
            </a:lvl1pPr>
          </a:lstStyle>
          <a:p>
            <a:pPr marL="0" indent="0" algn="l">
              <a:lnSpc>
                <a:spcPct val="140000"/>
              </a:lnSpc>
              <a:buNone/>
            </a:pPr>
            <a:endParaRPr lang="en-US" sz="1600" dirty="0"/>
          </a:p>
        </p:txBody>
      </p:sp>
      <p:sp>
        <p:nvSpPr>
          <p:cNvPr id="100" name="Circuit trace 100"/>
          <p:cNvSpPr/>
          <p:nvPr userDrawn="1"/>
        </p:nvSpPr>
        <p:spPr>
          <a:xfrm>
            <a:off x="0" y="160000"/>
            <a:ext cx="560000" cy="260000"/>
          </a:xfrm>
          <a:custGeom>
            <a:avLst/>
            <a:gdLst/>
            <a:ahLst/>
            <a:cxnLst/>
            <a:rect l="0" t="0" r="r" b="b"/>
            <a:pathLst>
              <a:path w="560000" h="260000" fill="none">
                <a:moveTo>
                  <a:pt x="0" y="0"/>
                </a:moveTo>
                <a:lnTo>
                  <a:pt x="430000" y="0"/>
                </a:lnTo>
                <a:lnTo>
                  <a:pt x="560000" y="130000"/>
                </a:lnTo>
                <a:lnTo>
                  <a:pt x="560000" y="260000"/>
                </a:lnTo>
              </a:path>
            </a:pathLst>
          </a:custGeom>
          <a:noFill/>
          <a:ln w="15875" cap="rnd">
            <a:solidFill>
              <a:srgbClr val="2BFF1A"/>
            </a:solidFill>
            <a:round/>
          </a:ln>
        </p:spPr>
      </p:sp>
      <p:sp>
        <p:nvSpPr>
          <p:cNvPr id="101" name="Circuit node 101"/>
          <p:cNvSpPr/>
          <p:nvPr userDrawn="1"/>
        </p:nvSpPr>
        <p:spPr>
          <a:xfrm>
            <a:off x="510000" y="370000"/>
            <a:ext cx="100000" cy="100000"/>
          </a:xfrm>
          <a:prstGeom prst="ellipse">
            <a:avLst/>
          </a:prstGeom>
          <a:noFill/>
          <a:ln w="15875">
            <a:solidFill>
              <a:srgbClr val="2BFF1A"/>
            </a:solidFill>
          </a:ln>
        </p:spPr>
      </p:sp>
      <p:sp>
        <p:nvSpPr>
          <p:cNvPr id="110" name="Circuit trace 110"/>
          <p:cNvSpPr/>
          <p:nvPr userDrawn="1"/>
        </p:nvSpPr>
        <p:spPr>
          <a:xfrm>
            <a:off x="11632000" y="160000"/>
            <a:ext cx="560000" cy="260000"/>
          </a:xfrm>
          <a:custGeom>
            <a:avLst/>
            <a:gdLst/>
            <a:ahLst/>
            <a:cxnLst/>
            <a:rect l="0" t="0" r="r" b="b"/>
            <a:pathLst>
              <a:path w="560000" h="260000" fill="none">
                <a:moveTo>
                  <a:pt x="560000" y="0"/>
                </a:moveTo>
                <a:lnTo>
                  <a:pt x="130000" y="0"/>
                </a:lnTo>
                <a:lnTo>
                  <a:pt x="0" y="130000"/>
                </a:lnTo>
                <a:lnTo>
                  <a:pt x="0" y="260000"/>
                </a:lnTo>
              </a:path>
            </a:pathLst>
          </a:custGeom>
          <a:noFill/>
          <a:ln w="15875" cap="rnd">
            <a:solidFill>
              <a:srgbClr val="2BFF1A"/>
            </a:solidFill>
            <a:round/>
          </a:ln>
        </p:spPr>
      </p:sp>
      <p:sp>
        <p:nvSpPr>
          <p:cNvPr id="111" name="Circuit node 111"/>
          <p:cNvSpPr/>
          <p:nvPr userDrawn="1"/>
        </p:nvSpPr>
        <p:spPr>
          <a:xfrm>
            <a:off x="11582000" y="370000"/>
            <a:ext cx="100000" cy="100000"/>
          </a:xfrm>
          <a:prstGeom prst="ellipse">
            <a:avLst/>
          </a:prstGeom>
          <a:noFill/>
          <a:ln w="15875">
            <a:solidFill>
              <a:srgbClr val="2BFF1A"/>
            </a:solidFill>
          </a:ln>
        </p:spPr>
      </p:sp>
      <p:sp>
        <p:nvSpPr>
          <p:cNvPr id="102" name="Circuit trace 102"/>
          <p:cNvSpPr/>
          <p:nvPr userDrawn="1"/>
        </p:nvSpPr>
        <p:spPr>
          <a:xfrm>
            <a:off x="0" y="270000"/>
            <a:ext cx="505000" cy="260000"/>
          </a:xfrm>
          <a:custGeom>
            <a:avLst/>
            <a:gdLst/>
            <a:ahLst/>
            <a:cxnLst/>
            <a:rect l="0" t="0" r="r" b="b"/>
            <a:pathLst>
              <a:path w="505000" h="260000" fill="none">
                <a:moveTo>
                  <a:pt x="0" y="0"/>
                </a:moveTo>
                <a:lnTo>
                  <a:pt x="375000" y="0"/>
                </a:lnTo>
                <a:lnTo>
                  <a:pt x="505000" y="130000"/>
                </a:lnTo>
                <a:lnTo>
                  <a:pt x="505000" y="260000"/>
                </a:lnTo>
              </a:path>
            </a:pathLst>
          </a:custGeom>
          <a:noFill/>
          <a:ln w="15875" cap="rnd">
            <a:solidFill>
              <a:srgbClr val="2BFF1A"/>
            </a:solidFill>
            <a:round/>
          </a:ln>
        </p:spPr>
      </p:sp>
      <p:sp>
        <p:nvSpPr>
          <p:cNvPr id="103" name="Circuit node 103"/>
          <p:cNvSpPr/>
          <p:nvPr userDrawn="1"/>
        </p:nvSpPr>
        <p:spPr>
          <a:xfrm>
            <a:off x="455000" y="480000"/>
            <a:ext cx="100000" cy="100000"/>
          </a:xfrm>
          <a:prstGeom prst="ellipse">
            <a:avLst/>
          </a:prstGeom>
          <a:noFill/>
          <a:ln w="15875">
            <a:solidFill>
              <a:srgbClr val="2BFF1A"/>
            </a:solidFill>
          </a:ln>
        </p:spPr>
      </p:sp>
      <p:sp>
        <p:nvSpPr>
          <p:cNvPr id="112" name="Circuit trace 112"/>
          <p:cNvSpPr/>
          <p:nvPr userDrawn="1"/>
        </p:nvSpPr>
        <p:spPr>
          <a:xfrm>
            <a:off x="11687000" y="270000"/>
            <a:ext cx="505000" cy="260000"/>
          </a:xfrm>
          <a:custGeom>
            <a:avLst/>
            <a:gdLst/>
            <a:ahLst/>
            <a:cxnLst/>
            <a:rect l="0" t="0" r="r" b="b"/>
            <a:pathLst>
              <a:path w="505000" h="260000" fill="none">
                <a:moveTo>
                  <a:pt x="505000" y="0"/>
                </a:moveTo>
                <a:lnTo>
                  <a:pt x="130000" y="0"/>
                </a:lnTo>
                <a:lnTo>
                  <a:pt x="0" y="130000"/>
                </a:lnTo>
                <a:lnTo>
                  <a:pt x="0" y="260000"/>
                </a:lnTo>
              </a:path>
            </a:pathLst>
          </a:custGeom>
          <a:noFill/>
          <a:ln w="15875" cap="rnd">
            <a:solidFill>
              <a:srgbClr val="2BFF1A"/>
            </a:solidFill>
            <a:round/>
          </a:ln>
        </p:spPr>
      </p:sp>
      <p:sp>
        <p:nvSpPr>
          <p:cNvPr id="113" name="Circuit node 113"/>
          <p:cNvSpPr/>
          <p:nvPr userDrawn="1"/>
        </p:nvSpPr>
        <p:spPr>
          <a:xfrm>
            <a:off x="11637000" y="480000"/>
            <a:ext cx="100000" cy="100000"/>
          </a:xfrm>
          <a:prstGeom prst="ellipse">
            <a:avLst/>
          </a:prstGeom>
          <a:noFill/>
          <a:ln w="15875">
            <a:solidFill>
              <a:srgbClr val="2BFF1A"/>
            </a:solidFill>
          </a:ln>
        </p:spPr>
      </p:sp>
      <p:sp>
        <p:nvSpPr>
          <p:cNvPr id="104" name="Circuit trace 104"/>
          <p:cNvSpPr/>
          <p:nvPr userDrawn="1"/>
        </p:nvSpPr>
        <p:spPr>
          <a:xfrm>
            <a:off x="0" y="380000"/>
            <a:ext cx="450000" cy="260000"/>
          </a:xfrm>
          <a:custGeom>
            <a:avLst/>
            <a:gdLst/>
            <a:ahLst/>
            <a:cxnLst/>
            <a:rect l="0" t="0" r="r" b="b"/>
            <a:pathLst>
              <a:path w="450000" h="260000" fill="none">
                <a:moveTo>
                  <a:pt x="0" y="0"/>
                </a:moveTo>
                <a:lnTo>
                  <a:pt x="320000" y="0"/>
                </a:lnTo>
                <a:lnTo>
                  <a:pt x="450000" y="130000"/>
                </a:lnTo>
                <a:lnTo>
                  <a:pt x="450000" y="260000"/>
                </a:lnTo>
              </a:path>
            </a:pathLst>
          </a:custGeom>
          <a:noFill/>
          <a:ln w="15875" cap="rnd">
            <a:solidFill>
              <a:srgbClr val="2BFF1A"/>
            </a:solidFill>
            <a:round/>
          </a:ln>
        </p:spPr>
      </p:sp>
      <p:sp>
        <p:nvSpPr>
          <p:cNvPr id="105" name="Circuit node 105"/>
          <p:cNvSpPr/>
          <p:nvPr userDrawn="1"/>
        </p:nvSpPr>
        <p:spPr>
          <a:xfrm>
            <a:off x="400000" y="590000"/>
            <a:ext cx="100000" cy="100000"/>
          </a:xfrm>
          <a:prstGeom prst="ellipse">
            <a:avLst/>
          </a:prstGeom>
          <a:noFill/>
          <a:ln w="15875">
            <a:solidFill>
              <a:srgbClr val="2BFF1A"/>
            </a:solidFill>
          </a:ln>
        </p:spPr>
      </p:sp>
      <p:sp>
        <p:nvSpPr>
          <p:cNvPr id="114" name="Circuit trace 114"/>
          <p:cNvSpPr/>
          <p:nvPr userDrawn="1"/>
        </p:nvSpPr>
        <p:spPr>
          <a:xfrm>
            <a:off x="11742000" y="380000"/>
            <a:ext cx="450000" cy="260000"/>
          </a:xfrm>
          <a:custGeom>
            <a:avLst/>
            <a:gdLst/>
            <a:ahLst/>
            <a:cxnLst/>
            <a:rect l="0" t="0" r="r" b="b"/>
            <a:pathLst>
              <a:path w="450000" h="260000" fill="none">
                <a:moveTo>
                  <a:pt x="450000" y="0"/>
                </a:moveTo>
                <a:lnTo>
                  <a:pt x="130000" y="0"/>
                </a:lnTo>
                <a:lnTo>
                  <a:pt x="0" y="130000"/>
                </a:lnTo>
                <a:lnTo>
                  <a:pt x="0" y="260000"/>
                </a:lnTo>
              </a:path>
            </a:pathLst>
          </a:custGeom>
          <a:noFill/>
          <a:ln w="15875" cap="rnd">
            <a:solidFill>
              <a:srgbClr val="2BFF1A"/>
            </a:solidFill>
            <a:round/>
          </a:ln>
        </p:spPr>
      </p:sp>
      <p:sp>
        <p:nvSpPr>
          <p:cNvPr id="115" name="Circuit node 115"/>
          <p:cNvSpPr/>
          <p:nvPr userDrawn="1"/>
        </p:nvSpPr>
        <p:spPr>
          <a:xfrm>
            <a:off x="11692000" y="590000"/>
            <a:ext cx="100000" cy="100000"/>
          </a:xfrm>
          <a:prstGeom prst="ellipse">
            <a:avLst/>
          </a:prstGeom>
          <a:noFill/>
          <a:ln w="15875">
            <a:solidFill>
              <a:srgbClr val="2BFF1A"/>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1C2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502920"/>
          </a:xfrm>
          <a:prstGeom prst="rect">
            <a:avLst/>
          </a:prstGeom>
          <a:noFill/>
          <a:ln/>
        </p:spPr>
        <p:txBody>
          <a:bodyPr wrap="square" lIns="0" tIns="0" rIns="0" bIns="0" rtlCol="0" anchor="t"/>
          <a:lstStyle>
            <a:lvl1pPr marL="0" indent="0" algn="l">
              <a:lnSpc>
                <a:spcPct val="115000"/>
              </a:lnSpc>
              <a:buNone/>
              <a:defRPr lang="en-US" sz="3600" b="1" dirty="0">
                <a:solidFill>
                  <a:srgbClr val="2BFF1A"/>
                </a:solidFill>
                <a:latin typeface="Rajdhani" pitchFamily="34" charset="0"/>
                <a:ea typeface="Rajdhani" pitchFamily="34" charset="-122"/>
                <a:cs typeface="Rajdhani"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10081"/>
            <a:ext cx="10566400" cy="4135119"/>
          </a:xfrm>
          <a:prstGeom prst="rect">
            <a:avLst/>
          </a:prstGeom>
          <a:noFill/>
          <a:ln/>
        </p:spPr>
        <p:txBody>
          <a:bodyPr wrap="square" lIns="0" tIns="0" rIns="0" bIns="0" rtlCol="0" anchor="t"/>
          <a:lstStyle>
            <a:lvl1pPr marL="0" indent="0" algn="l">
              <a:lnSpc>
                <a:spcPct val="140000"/>
              </a:lnSpc>
              <a:buNone/>
              <a:defRPr lang="en-US" sz="1600" dirty="0">
                <a:solidFill>
                  <a:srgbClr val="F2F7F4"/>
                </a:solidFill>
                <a:latin typeface="Roboto Mono" pitchFamily="34" charset="0"/>
                <a:ea typeface="Roboto Mono" pitchFamily="34" charset="-122"/>
                <a:cs typeface="Roboto Mon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kalidasyuteshkumar-collab/KLH-FED-2026-Session10-Batch-04"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C22"/>
        </a:solidFill>
        <a:effectLst/>
      </p:bgPr>
    </p:bg>
    <p:spTree>
      <p:nvGrpSpPr>
        <p:cNvPr id="1" name=""/>
        <p:cNvGrpSpPr/>
        <p:nvPr/>
      </p:nvGrpSpPr>
      <p:grpSpPr>
        <a:xfrm>
          <a:off x="0" y="0"/>
          <a:ext cx="0" cy="0"/>
          <a:chOff x="0" y="0"/>
          <a:chExt cx="0" cy="0"/>
        </a:xfrm>
      </p:grpSpPr>
      <p:sp>
        <p:nvSpPr>
          <p:cNvPr id="2" name="Text 0"/>
          <p:cNvSpPr/>
          <p:nvPr/>
        </p:nvSpPr>
        <p:spPr>
          <a:xfrm>
            <a:off x="812800" y="203454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FFC233"/>
                </a:solidFill>
                <a:latin typeface="Roboto Mono" pitchFamily="34" charset="0"/>
                <a:ea typeface="Roboto Mono" pitchFamily="34" charset="-122"/>
                <a:cs typeface="Roboto Mono" pitchFamily="34" charset="-120"/>
              </a:rPr>
              <a:t>DIGITAL LOGIC DESIGN</a:t>
            </a:r>
            <a:endParaRPr lang="en-US" sz="1600" dirty="0"/>
          </a:p>
        </p:txBody>
      </p:sp>
      <p:sp>
        <p:nvSpPr>
          <p:cNvPr id="3" name="Text 1"/>
          <p:cNvSpPr>
            <a:spLocks noGrp="1"/>
          </p:cNvSpPr>
          <p:nvPr>
            <p:ph type="title"/>
          </p:nvPr>
        </p:nvSpPr>
        <p:spPr>
          <a:xfrm>
            <a:off x="812800" y="2522220"/>
            <a:ext cx="10883392" cy="1732280"/>
          </a:xfrm>
          <a:prstGeom prst="rect">
            <a:avLst/>
          </a:prstGeom>
          <a:noFill/>
          <a:ln/>
        </p:spPr>
        <p:txBody>
          <a:bodyPr wrap="square" lIns="0" tIns="0" rIns="0" bIns="0" rtlCol="0" anchor="t">
            <a:normAutofit/>
          </a:bodyPr>
          <a:lstStyle/>
          <a:p>
            <a:pPr marL="0" indent="0" algn="l">
              <a:lnSpc>
                <a:spcPts val="6720"/>
              </a:lnSpc>
              <a:buNone/>
            </a:pPr>
            <a:r>
              <a:rPr lang="en-US" sz="6400" b="1" i="0" dirty="0">
                <a:solidFill>
                  <a:srgbClr val="2BFF1A"/>
                </a:solidFill>
                <a:latin typeface="Rajdhani" pitchFamily="34" charset="0"/>
                <a:ea typeface="Rajdhani" pitchFamily="34" charset="-122"/>
                <a:cs typeface="Rajdhani" pitchFamily="34" charset="-120"/>
              </a:rPr>
              <a:t>4-Bit Ripple</a:t>
            </a:r>
            <a:endParaRPr lang="en-US" sz="6400" dirty="0"/>
          </a:p>
          <a:p>
            <a:pPr marL="0" indent="0" algn="l">
              <a:lnSpc>
                <a:spcPts val="6720"/>
              </a:lnSpc>
              <a:buNone/>
            </a:pPr>
            <a:r>
              <a:rPr lang="en-US" sz="6400" b="1" i="0" dirty="0">
                <a:solidFill>
                  <a:srgbClr val="2BFF1A"/>
                </a:solidFill>
                <a:latin typeface="Rajdhani" pitchFamily="34" charset="0"/>
                <a:ea typeface="Rajdhani" pitchFamily="34" charset="-122"/>
                <a:cs typeface="Rajdhani" pitchFamily="34" charset="-120"/>
              </a:rPr>
              <a:t>Carry Adder</a:t>
            </a:r>
            <a:endParaRPr lang="en-US" sz="6400" dirty="0"/>
          </a:p>
        </p:txBody>
      </p:sp>
      <p:sp>
        <p:nvSpPr>
          <p:cNvPr id="4" name="Text 2"/>
          <p:cNvSpPr/>
          <p:nvPr/>
        </p:nvSpPr>
        <p:spPr>
          <a:xfrm>
            <a:off x="812800" y="4432300"/>
            <a:ext cx="10883392" cy="41656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B8D4C0"/>
                </a:solidFill>
                <a:latin typeface="Roboto Mono" pitchFamily="34" charset="0"/>
                <a:ea typeface="Roboto Mono" pitchFamily="34" charset="-122"/>
                <a:cs typeface="Roboto Mono" pitchFamily="34" charset="-120"/>
              </a:rPr>
              <a:t>Built from full adders: working and carry propagation delay</a:t>
            </a:r>
            <a:endParaRPr lang="en-US" sz="2200" dirty="0"/>
          </a:p>
        </p:txBody>
      </p:sp>
      <p:sp>
        <p:nvSpPr>
          <p:cNvPr id="5" name="Text 3"/>
          <p:cNvSpPr/>
          <p:nvPr/>
        </p:nvSpPr>
        <p:spPr>
          <a:xfrm>
            <a:off x="8239760" y="812800"/>
            <a:ext cx="3139440" cy="1282700"/>
          </a:xfrm>
          <a:prstGeom prst="rect">
            <a:avLst/>
          </a:prstGeom>
          <a:noFill/>
          <a:ln/>
        </p:spPr>
        <p:txBody>
          <a:bodyPr wrap="square" lIns="0" tIns="0" rIns="0" bIns="0" rtlCol="0" anchor="t">
            <a:normAutofit/>
          </a:bodyPr>
          <a:lstStyle/>
          <a:p>
            <a:pPr marL="0" indent="0" algn="r">
              <a:lnSpc>
                <a:spcPts val="3300"/>
              </a:lnSpc>
              <a:buNone/>
            </a:pPr>
            <a:r>
              <a:rPr lang="en-US" sz="2200" b="1" dirty="0">
                <a:solidFill>
                  <a:srgbClr val="FFC233"/>
                </a:solidFill>
                <a:latin typeface="Roboto Mono" pitchFamily="49" charset="0"/>
                <a:ea typeface="Roboto Mono" pitchFamily="49" charset="-122"/>
                <a:cs typeface="Roboto Mono" pitchFamily="49" charset="-120"/>
              </a:rPr>
              <a:t> 1011</a:t>
            </a:r>
            <a:endParaRPr lang="en-US" sz="2200" dirty="0"/>
          </a:p>
          <a:p>
            <a:pPr marL="0" indent="0" algn="r">
              <a:lnSpc>
                <a:spcPts val="3300"/>
              </a:lnSpc>
              <a:buNone/>
            </a:pPr>
            <a:r>
              <a:rPr lang="en-US" sz="2200" b="1" dirty="0">
                <a:solidFill>
                  <a:srgbClr val="FFC233"/>
                </a:solidFill>
                <a:latin typeface="Roboto Mono" pitchFamily="49" charset="0"/>
                <a:ea typeface="Roboto Mono" pitchFamily="49" charset="-122"/>
                <a:cs typeface="Roboto Mono" pitchFamily="49" charset="-120"/>
              </a:rPr>
              <a:t>+0110</a:t>
            </a:r>
            <a:endParaRPr lang="en-US" sz="2200" dirty="0"/>
          </a:p>
          <a:p>
            <a:pPr marL="0" indent="0" algn="r">
              <a:lnSpc>
                <a:spcPts val="3300"/>
              </a:lnSpc>
              <a:buNone/>
            </a:pPr>
            <a:r>
              <a:rPr lang="en-US" sz="2200" b="1" dirty="0">
                <a:solidFill>
                  <a:srgbClr val="FFC233"/>
                </a:solidFill>
                <a:latin typeface="Roboto Mono" pitchFamily="49" charset="0"/>
                <a:ea typeface="Roboto Mono" pitchFamily="49" charset="-122"/>
                <a:cs typeface="Roboto Mono" pitchFamily="49" charset="-120"/>
              </a:rPr>
              <a:t>=10001</a:t>
            </a:r>
            <a:endParaRPr lang="en-US" sz="2200" dirty="0"/>
          </a:p>
        </p:txBody>
      </p:sp>
      <p:sp>
        <p:nvSpPr>
          <p:cNvPr id="6" name="Text 4"/>
          <p:cNvSpPr/>
          <p:nvPr/>
        </p:nvSpPr>
        <p:spPr>
          <a:xfrm>
            <a:off x="812800" y="5589037"/>
            <a:ext cx="10883392" cy="684762"/>
          </a:xfrm>
          <a:prstGeom prst="rect">
            <a:avLst/>
          </a:prstGeom>
          <a:noFill/>
          <a:ln/>
        </p:spPr>
        <p:txBody>
          <a:bodyPr wrap="square" lIns="0" tIns="0" rIns="0" bIns="0" rtlCol="0" anchor="t">
            <a:noAutofit/>
          </a:bodyPr>
          <a:lstStyle/>
          <a:p>
            <a:pPr marL="0" indent="0" algn="l">
              <a:lnSpc>
                <a:spcPts val="2240"/>
              </a:lnSpc>
              <a:buNone/>
            </a:pPr>
            <a:r>
              <a:rPr lang="en-US" sz="1600" dirty="0">
                <a:solidFill>
                  <a:schemeClr val="accent2">
                    <a:lumMod val="60000"/>
                    <a:lumOff val="40000"/>
                  </a:schemeClr>
                </a:solidFill>
                <a:latin typeface="Roboto Mono" pitchFamily="34" charset="0"/>
                <a:ea typeface="Roboto Mono" pitchFamily="34" charset="-122"/>
              </a:rPr>
              <a:t>2620030114-Vyshnavi</a:t>
            </a:r>
          </a:p>
          <a:p>
            <a:pPr marL="0" indent="0" algn="l">
              <a:lnSpc>
                <a:spcPts val="2240"/>
              </a:lnSpc>
              <a:buNone/>
            </a:pPr>
            <a:r>
              <a:rPr lang="en-US" sz="1600" dirty="0">
                <a:solidFill>
                  <a:schemeClr val="accent2">
                    <a:lumMod val="60000"/>
                    <a:lumOff val="40000"/>
                  </a:schemeClr>
                </a:solidFill>
                <a:latin typeface="Roboto Mono" pitchFamily="34" charset="0"/>
                <a:ea typeface="Roboto Mono" pitchFamily="34" charset="-122"/>
              </a:rPr>
              <a:t>2620030112-Aviyah</a:t>
            </a:r>
          </a:p>
          <a:p>
            <a:pPr marL="0" indent="0" algn="l">
              <a:lnSpc>
                <a:spcPts val="2240"/>
              </a:lnSpc>
              <a:buNone/>
            </a:pPr>
            <a:r>
              <a:rPr lang="en-US" sz="1600" dirty="0">
                <a:solidFill>
                  <a:schemeClr val="accent2">
                    <a:lumMod val="60000"/>
                    <a:lumOff val="40000"/>
                  </a:schemeClr>
                </a:solidFill>
                <a:latin typeface="Roboto Mono" pitchFamily="34" charset="0"/>
                <a:ea typeface="Roboto Mono" pitchFamily="34" charset="-122"/>
              </a:rPr>
              <a:t>2620030088-Yutesh</a:t>
            </a:r>
          </a:p>
          <a:p>
            <a:pPr marL="0" indent="0" algn="l">
              <a:lnSpc>
                <a:spcPts val="2240"/>
              </a:lnSpc>
              <a:buNone/>
            </a:pPr>
            <a:r>
              <a:rPr lang="en-US" sz="1600" dirty="0">
                <a:solidFill>
                  <a:schemeClr val="accent2">
                    <a:lumMod val="60000"/>
                    <a:lumOff val="40000"/>
                  </a:schemeClr>
                </a:solidFill>
                <a:latin typeface="Roboto Mono" pitchFamily="34" charset="0"/>
                <a:ea typeface="Roboto Mono" pitchFamily="34" charset="-122"/>
              </a:rPr>
              <a:t>2620030138-Krishna</a:t>
            </a:r>
          </a:p>
          <a:p>
            <a:pPr marL="0" indent="0" algn="l">
              <a:lnSpc>
                <a:spcPts val="2240"/>
              </a:lnSpc>
              <a:buNone/>
            </a:pP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C2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FF1A"/>
                </a:solidFill>
                <a:latin typeface="Roboto Mono" pitchFamily="34" charset="0"/>
                <a:ea typeface="Roboto Mono" pitchFamily="34" charset="-122"/>
                <a:cs typeface="Roboto Mono" pitchFamily="34" charset="-120"/>
              </a:rPr>
              <a:t>SECTION 1</a:t>
            </a:r>
            <a:endParaRPr lang="en-US" sz="1200" dirty="0"/>
          </a:p>
        </p:txBody>
      </p:sp>
      <p:sp>
        <p:nvSpPr>
          <p:cNvPr id="3" name="Text 1"/>
          <p:cNvSpPr>
            <a:spLocks noGrp="1"/>
          </p:cNvSpPr>
          <p:nvPr>
            <p:ph type="title"/>
          </p:nvPr>
        </p:nvSpPr>
        <p:spPr>
          <a:xfrm>
            <a:off x="812800" y="110236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2BFF1A"/>
                </a:solidFill>
                <a:latin typeface="Rajdhani" pitchFamily="34" charset="0"/>
                <a:ea typeface="Rajdhani" pitchFamily="34" charset="-122"/>
                <a:cs typeface="Rajdhani" pitchFamily="34" charset="-120"/>
              </a:rPr>
              <a:t>Problem Statement</a:t>
            </a:r>
            <a:endParaRPr lang="en-US" sz="3600" dirty="0"/>
          </a:p>
        </p:txBody>
      </p:sp>
      <p:sp>
        <p:nvSpPr>
          <p:cNvPr id="4" name="Text 2"/>
          <p:cNvSpPr/>
          <p:nvPr/>
        </p:nvSpPr>
        <p:spPr>
          <a:xfrm>
            <a:off x="812800" y="1910080"/>
            <a:ext cx="9810750" cy="751840"/>
          </a:xfrm>
          <a:prstGeom prst="rect">
            <a:avLst/>
          </a:prstGeom>
          <a:noFill/>
          <a:ln/>
        </p:spPr>
        <p:txBody>
          <a:bodyPr wrap="square" lIns="0" tIns="0" rIns="0" bIns="0" rtlCol="0" anchor="t">
            <a:normAutofit fontScale="92500"/>
          </a:bodyPr>
          <a:lstStyle/>
          <a:p>
            <a:pPr marL="0" indent="0" algn="l">
              <a:lnSpc>
                <a:spcPts val="2860"/>
              </a:lnSpc>
              <a:buNone/>
            </a:pPr>
            <a:r>
              <a:rPr lang="en-US" sz="2200" dirty="0">
                <a:solidFill>
                  <a:srgbClr val="F2F7F4"/>
                </a:solidFill>
                <a:latin typeface="Roboto Mono" pitchFamily="34" charset="0"/>
                <a:ea typeface="Roboto Mono" pitchFamily="34" charset="-122"/>
                <a:cs typeface="Roboto Mono" pitchFamily="34" charset="-120"/>
              </a:rPr>
              <a:t>Design a 4-bit ripple carry adder using full adders, explain how it works, and find its carry propagation delay.</a:t>
            </a:r>
            <a:endParaRPr lang="en-US" sz="2200" dirty="0"/>
          </a:p>
        </p:txBody>
      </p:sp>
      <p:sp>
        <p:nvSpPr>
          <p:cNvPr id="5" name="Shape 3"/>
          <p:cNvSpPr/>
          <p:nvPr/>
        </p:nvSpPr>
        <p:spPr>
          <a:xfrm>
            <a:off x="815975" y="2944495"/>
            <a:ext cx="3380264" cy="1776730"/>
          </a:xfrm>
          <a:prstGeom prst="roundRect">
            <a:avLst>
              <a:gd name="adj" fmla="val 5540"/>
            </a:avLst>
          </a:prstGeom>
          <a:solidFill>
            <a:srgbClr val="17262D"/>
          </a:solidFill>
          <a:ln w="6350">
            <a:solidFill>
              <a:srgbClr val="2F4A3A"/>
            </a:solidFill>
            <a:prstDash val="solid"/>
          </a:ln>
        </p:spPr>
      </p:sp>
      <p:sp>
        <p:nvSpPr>
          <p:cNvPr id="6" name="Text 4"/>
          <p:cNvSpPr/>
          <p:nvPr/>
        </p:nvSpPr>
        <p:spPr>
          <a:xfrm>
            <a:off x="1071880" y="3200400"/>
            <a:ext cx="2954507"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2BFF1A"/>
                </a:solidFill>
                <a:latin typeface="Roboto Mono" pitchFamily="34" charset="0"/>
                <a:ea typeface="Roboto Mono" pitchFamily="34" charset="-122"/>
                <a:cs typeface="Roboto Mono" pitchFamily="34" charset="-120"/>
              </a:rPr>
              <a:t>Design</a:t>
            </a:r>
            <a:endParaRPr lang="en-US" sz="2200" dirty="0"/>
          </a:p>
        </p:txBody>
      </p:sp>
      <p:sp>
        <p:nvSpPr>
          <p:cNvPr id="7" name="Text 5"/>
          <p:cNvSpPr/>
          <p:nvPr/>
        </p:nvSpPr>
        <p:spPr>
          <a:xfrm>
            <a:off x="1071880" y="3611880"/>
            <a:ext cx="2954507" cy="594360"/>
          </a:xfrm>
          <a:prstGeom prst="rect">
            <a:avLst/>
          </a:prstGeom>
          <a:noFill/>
          <a:ln/>
        </p:spPr>
        <p:txBody>
          <a:bodyPr wrap="square" lIns="0" tIns="0" rIns="0" bIns="0" rtlCol="0" anchor="t">
            <a:normAutofit fontScale="77500" lnSpcReduction="20000"/>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Chain four 1-bit full adders to add two 4-bit numbers.</a:t>
            </a:r>
            <a:endParaRPr lang="en-US" sz="1600" dirty="0"/>
          </a:p>
        </p:txBody>
      </p:sp>
      <p:sp>
        <p:nvSpPr>
          <p:cNvPr id="8" name="Shape 6"/>
          <p:cNvSpPr/>
          <p:nvPr/>
        </p:nvSpPr>
        <p:spPr>
          <a:xfrm>
            <a:off x="4405789" y="2944495"/>
            <a:ext cx="3380343" cy="1776730"/>
          </a:xfrm>
          <a:prstGeom prst="roundRect">
            <a:avLst>
              <a:gd name="adj" fmla="val 5540"/>
            </a:avLst>
          </a:prstGeom>
          <a:solidFill>
            <a:srgbClr val="17262D"/>
          </a:solidFill>
          <a:ln w="6350">
            <a:solidFill>
              <a:srgbClr val="2F4A3A"/>
            </a:solidFill>
            <a:prstDash val="solid"/>
          </a:ln>
        </p:spPr>
      </p:sp>
      <p:sp>
        <p:nvSpPr>
          <p:cNvPr id="9" name="Text 7"/>
          <p:cNvSpPr/>
          <p:nvPr/>
        </p:nvSpPr>
        <p:spPr>
          <a:xfrm>
            <a:off x="4661694" y="3200400"/>
            <a:ext cx="295458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2BFF1A"/>
                </a:solidFill>
                <a:latin typeface="Roboto Mono" pitchFamily="34" charset="0"/>
                <a:ea typeface="Roboto Mono" pitchFamily="34" charset="-122"/>
                <a:cs typeface="Roboto Mono" pitchFamily="34" charset="-120"/>
              </a:rPr>
              <a:t>Explain</a:t>
            </a:r>
            <a:endParaRPr lang="en-US" sz="2200" dirty="0"/>
          </a:p>
        </p:txBody>
      </p:sp>
      <p:sp>
        <p:nvSpPr>
          <p:cNvPr id="10" name="Text 8"/>
          <p:cNvSpPr/>
          <p:nvPr/>
        </p:nvSpPr>
        <p:spPr>
          <a:xfrm>
            <a:off x="4661694" y="3611880"/>
            <a:ext cx="2954589" cy="594360"/>
          </a:xfrm>
          <a:prstGeom prst="rect">
            <a:avLst/>
          </a:prstGeom>
          <a:noFill/>
          <a:ln/>
        </p:spPr>
        <p:txBody>
          <a:bodyPr wrap="square" lIns="0" tIns="0" rIns="0" bIns="0" rtlCol="0" anchor="t">
            <a:normAutofit fontScale="85000" lnSpcReduction="10000"/>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Trace how each carry moves from bit 0 up to bit 3.</a:t>
            </a:r>
            <a:endParaRPr lang="en-US" sz="1600" dirty="0"/>
          </a:p>
        </p:txBody>
      </p:sp>
      <p:sp>
        <p:nvSpPr>
          <p:cNvPr id="11" name="Shape 9"/>
          <p:cNvSpPr/>
          <p:nvPr/>
        </p:nvSpPr>
        <p:spPr>
          <a:xfrm>
            <a:off x="7995682" y="2944495"/>
            <a:ext cx="3380343" cy="1776730"/>
          </a:xfrm>
          <a:prstGeom prst="roundRect">
            <a:avLst>
              <a:gd name="adj" fmla="val 5540"/>
            </a:avLst>
          </a:prstGeom>
          <a:solidFill>
            <a:srgbClr val="17262D"/>
          </a:solidFill>
          <a:ln w="6350">
            <a:solidFill>
              <a:srgbClr val="2F4A3A"/>
            </a:solidFill>
            <a:prstDash val="solid"/>
          </a:ln>
        </p:spPr>
      </p:sp>
      <p:sp>
        <p:nvSpPr>
          <p:cNvPr id="12" name="Text 10"/>
          <p:cNvSpPr/>
          <p:nvPr/>
        </p:nvSpPr>
        <p:spPr>
          <a:xfrm>
            <a:off x="8251587" y="3200400"/>
            <a:ext cx="295458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2BFF1A"/>
                </a:solidFill>
                <a:latin typeface="Roboto Mono" pitchFamily="34" charset="0"/>
                <a:ea typeface="Roboto Mono" pitchFamily="34" charset="-122"/>
                <a:cs typeface="Roboto Mono" pitchFamily="34" charset="-120"/>
              </a:rPr>
              <a:t>Analyse</a:t>
            </a:r>
            <a:endParaRPr lang="en-US" sz="2200" dirty="0"/>
          </a:p>
        </p:txBody>
      </p:sp>
      <p:sp>
        <p:nvSpPr>
          <p:cNvPr id="13" name="Text 11"/>
          <p:cNvSpPr/>
          <p:nvPr/>
        </p:nvSpPr>
        <p:spPr>
          <a:xfrm>
            <a:off x="8251587" y="3611880"/>
            <a:ext cx="2954589"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Work out the worst-case delay and how it grows with word length.</a:t>
            </a:r>
            <a:endParaRPr lang="en-US" sz="1600" dirty="0"/>
          </a:p>
        </p:txBody>
      </p:sp>
      <p:sp>
        <p:nvSpPr>
          <p:cNvPr id="14" name="Text 12"/>
          <p:cNvSpPr/>
          <p:nvPr/>
        </p:nvSpPr>
        <p:spPr>
          <a:xfrm>
            <a:off x="812800" y="6238241"/>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8B0"/>
                </a:solidFill>
                <a:latin typeface="Roboto Mono" pitchFamily="34" charset="0"/>
                <a:ea typeface="Roboto Mono" pitchFamily="34" charset="-122"/>
                <a:cs typeface="Roboto Mono" pitchFamily="34" charset="-120"/>
              </a:rPr>
              <a:t>4-Bit Ripple Carry Adder</a:t>
            </a:r>
            <a:endParaRPr lang="en-US" sz="1200" dirty="0"/>
          </a:p>
        </p:txBody>
      </p:sp>
      <p:sp>
        <p:nvSpPr>
          <p:cNvPr id="15" name="Text 13"/>
          <p:cNvSpPr/>
          <p:nvPr/>
        </p:nvSpPr>
        <p:spPr>
          <a:xfrm>
            <a:off x="10566400" y="6238241"/>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B8B0"/>
                </a:solidFill>
                <a:latin typeface="Roboto Mono" pitchFamily="34" charset="0"/>
                <a:ea typeface="Roboto Mono" pitchFamily="34" charset="-122"/>
                <a:cs typeface="Roboto Mono"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C2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FF1A"/>
                </a:solidFill>
                <a:latin typeface="Roboto Mono" pitchFamily="34" charset="0"/>
                <a:ea typeface="Roboto Mono" pitchFamily="34" charset="-122"/>
                <a:cs typeface="Roboto Mono" pitchFamily="34" charset="-120"/>
              </a:rPr>
              <a:t>BUILDING BLOCK</a:t>
            </a:r>
            <a:endParaRPr lang="en-US" sz="1200" dirty="0"/>
          </a:p>
        </p:txBody>
      </p:sp>
      <p:sp>
        <p:nvSpPr>
          <p:cNvPr id="3" name="Text 1"/>
          <p:cNvSpPr>
            <a:spLocks noGrp="1"/>
          </p:cNvSpPr>
          <p:nvPr>
            <p:ph type="title"/>
          </p:nvPr>
        </p:nvSpPr>
        <p:spPr>
          <a:xfrm>
            <a:off x="812800" y="11023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2BFF1A"/>
                </a:solidFill>
                <a:latin typeface="Rajdhani" pitchFamily="34" charset="0"/>
                <a:ea typeface="Rajdhani" pitchFamily="34" charset="-122"/>
                <a:cs typeface="Rajdhani" pitchFamily="34" charset="-120"/>
              </a:rPr>
              <a:t>Full Adder Truth Table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69440"/>
          <a:ext cx="5196840" cy="3931920"/>
        </p:xfrm>
        <a:graphic>
          <a:graphicData uri="http://schemas.openxmlformats.org/drawingml/2006/table">
            <a:tbl>
              <a:tblPr/>
              <a:tblGrid>
                <a:gridCol w="1039368">
                  <a:extLst>
                    <a:ext uri="{9D8B030D-6E8A-4147-A177-3AD203B41FA5}">
                      <a16:colId xmlns:a16="http://schemas.microsoft.com/office/drawing/2014/main" val="20000"/>
                    </a:ext>
                  </a:extLst>
                </a:gridCol>
                <a:gridCol w="1039368">
                  <a:extLst>
                    <a:ext uri="{9D8B030D-6E8A-4147-A177-3AD203B41FA5}">
                      <a16:colId xmlns:a16="http://schemas.microsoft.com/office/drawing/2014/main" val="20001"/>
                    </a:ext>
                  </a:extLst>
                </a:gridCol>
                <a:gridCol w="1039368">
                  <a:extLst>
                    <a:ext uri="{9D8B030D-6E8A-4147-A177-3AD203B41FA5}">
                      <a16:colId xmlns:a16="http://schemas.microsoft.com/office/drawing/2014/main" val="20002"/>
                    </a:ext>
                  </a:extLst>
                </a:gridCol>
                <a:gridCol w="1039368">
                  <a:extLst>
                    <a:ext uri="{9D8B030D-6E8A-4147-A177-3AD203B41FA5}">
                      <a16:colId xmlns:a16="http://schemas.microsoft.com/office/drawing/2014/main" val="20003"/>
                    </a:ext>
                  </a:extLst>
                </a:gridCol>
                <a:gridCol w="1039368">
                  <a:extLst>
                    <a:ext uri="{9D8B030D-6E8A-4147-A177-3AD203B41FA5}">
                      <a16:colId xmlns:a16="http://schemas.microsoft.com/office/drawing/2014/main" val="20004"/>
                    </a:ext>
                  </a:extLst>
                </a:gridCol>
              </a:tblGrid>
              <a:tr h="436880">
                <a:tc>
                  <a:txBody>
                    <a:bodyPr/>
                    <a:lstStyle/>
                    <a:p>
                      <a:pPr marL="0" indent="0" algn="ctr">
                        <a:lnSpc>
                          <a:spcPts val="2240"/>
                        </a:lnSpc>
                        <a:buNone/>
                      </a:pPr>
                      <a:r>
                        <a:rPr lang="en-US" sz="1600" b="1" dirty="0">
                          <a:solidFill>
                            <a:srgbClr val="121C22"/>
                          </a:solidFill>
                          <a:latin typeface="Roboto Mono" pitchFamily="49" charset="0"/>
                          <a:ea typeface="Roboto Mono" pitchFamily="49" charset="-122"/>
                          <a:cs typeface="Roboto Mono" pitchFamily="49" charset="-120"/>
                        </a:rPr>
                        <a:t>A</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BFF1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BFF1A"/>
                      </a:solidFill>
                      <a:prstDash val="solid"/>
                      <a:round/>
                      <a:headEnd type="none" w="med" len="med"/>
                      <a:tailEnd type="none" w="med" len="med"/>
                    </a:lnB>
                    <a:solidFill>
                      <a:srgbClr val="2BFF1A"/>
                    </a:solidFill>
                  </a:tcPr>
                </a:tc>
                <a:tc>
                  <a:txBody>
                    <a:bodyPr/>
                    <a:lstStyle/>
                    <a:p>
                      <a:pPr marL="0" indent="0" algn="ctr">
                        <a:lnSpc>
                          <a:spcPts val="2240"/>
                        </a:lnSpc>
                        <a:buNone/>
                      </a:pPr>
                      <a:r>
                        <a:rPr lang="en-US" sz="1600" b="1" dirty="0">
                          <a:solidFill>
                            <a:srgbClr val="121C22"/>
                          </a:solidFill>
                          <a:latin typeface="Roboto Mono" pitchFamily="49" charset="0"/>
                          <a:ea typeface="Roboto Mono" pitchFamily="49" charset="-122"/>
                          <a:cs typeface="Roboto Mono" pitchFamily="49" charset="-120"/>
                        </a:rPr>
                        <a:t>B</a:t>
                      </a:r>
                      <a:endParaRPr lang="en-US" sz="1600" dirty="0">
                        <a:latin typeface="Roboto Mono" charset="0"/>
                        <a:ea typeface="Roboto Mono" charset="0"/>
                        <a:cs typeface="Roboto Mono" charset="0"/>
                      </a:endParaRPr>
                    </a:p>
                  </a:txBody>
                  <a:tcPr marL="71120" marR="71120" marT="71120" marB="71120">
                    <a:lnL w="12700" cap="flat" cmpd="sng" algn="ctr">
                      <a:solidFill>
                        <a:srgbClr val="2BFF1A"/>
                      </a:solidFill>
                      <a:prstDash val="solid"/>
                      <a:round/>
                      <a:headEnd type="none" w="med" len="med"/>
                      <a:tailEnd type="none" w="med" len="med"/>
                    </a:lnL>
                    <a:lnR w="12700" cap="flat" cmpd="sng" algn="ctr">
                      <a:solidFill>
                        <a:srgbClr val="2BFF1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BFF1A"/>
                      </a:solidFill>
                      <a:prstDash val="solid"/>
                      <a:round/>
                      <a:headEnd type="none" w="med" len="med"/>
                      <a:tailEnd type="none" w="med" len="med"/>
                    </a:lnB>
                    <a:solidFill>
                      <a:srgbClr val="2BFF1A"/>
                    </a:solidFill>
                  </a:tcPr>
                </a:tc>
                <a:tc>
                  <a:txBody>
                    <a:bodyPr/>
                    <a:lstStyle/>
                    <a:p>
                      <a:pPr marL="0" indent="0" algn="ctr">
                        <a:lnSpc>
                          <a:spcPts val="2240"/>
                        </a:lnSpc>
                        <a:buNone/>
                      </a:pPr>
                      <a:r>
                        <a:rPr lang="en-US" sz="1600" b="1" dirty="0">
                          <a:solidFill>
                            <a:srgbClr val="121C22"/>
                          </a:solidFill>
                          <a:latin typeface="Roboto Mono" pitchFamily="49" charset="0"/>
                          <a:ea typeface="Roboto Mono" pitchFamily="49" charset="-122"/>
                          <a:cs typeface="Roboto Mono" pitchFamily="49" charset="-120"/>
                        </a:rPr>
                        <a:t>Cin</a:t>
                      </a:r>
                      <a:endParaRPr lang="en-US" sz="1600" dirty="0">
                        <a:latin typeface="Roboto Mono" charset="0"/>
                        <a:ea typeface="Roboto Mono" charset="0"/>
                        <a:cs typeface="Roboto Mono" charset="0"/>
                      </a:endParaRPr>
                    </a:p>
                  </a:txBody>
                  <a:tcPr marL="71120" marR="71120" marT="71120" marB="71120">
                    <a:lnL w="12700" cap="flat" cmpd="sng" algn="ctr">
                      <a:solidFill>
                        <a:srgbClr val="2BFF1A"/>
                      </a:solidFill>
                      <a:prstDash val="solid"/>
                      <a:round/>
                      <a:headEnd type="none" w="med" len="med"/>
                      <a:tailEnd type="none" w="med" len="med"/>
                    </a:lnL>
                    <a:lnR w="12700" cap="flat" cmpd="sng" algn="ctr">
                      <a:solidFill>
                        <a:srgbClr val="2BFF1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BFF1A"/>
                      </a:solidFill>
                      <a:prstDash val="solid"/>
                      <a:round/>
                      <a:headEnd type="none" w="med" len="med"/>
                      <a:tailEnd type="none" w="med" len="med"/>
                    </a:lnB>
                    <a:solidFill>
                      <a:srgbClr val="2BFF1A"/>
                    </a:solidFill>
                  </a:tcPr>
                </a:tc>
                <a:tc>
                  <a:txBody>
                    <a:bodyPr/>
                    <a:lstStyle/>
                    <a:p>
                      <a:pPr marL="0" indent="0" algn="ctr">
                        <a:lnSpc>
                          <a:spcPts val="2240"/>
                        </a:lnSpc>
                        <a:buNone/>
                      </a:pPr>
                      <a:r>
                        <a:rPr lang="en-US" sz="1600" b="1" dirty="0">
                          <a:solidFill>
                            <a:srgbClr val="121C22"/>
                          </a:solidFill>
                          <a:latin typeface="Roboto Mono" pitchFamily="49" charset="0"/>
                          <a:ea typeface="Roboto Mono" pitchFamily="49" charset="-122"/>
                          <a:cs typeface="Roboto Mono" pitchFamily="49" charset="-120"/>
                        </a:rPr>
                        <a:t>Sum</a:t>
                      </a:r>
                      <a:endParaRPr lang="en-US" sz="1600" dirty="0">
                        <a:latin typeface="Roboto Mono" charset="0"/>
                        <a:ea typeface="Roboto Mono" charset="0"/>
                        <a:cs typeface="Roboto Mono" charset="0"/>
                      </a:endParaRPr>
                    </a:p>
                  </a:txBody>
                  <a:tcPr marL="71120" marR="71120" marT="71120" marB="71120">
                    <a:lnL w="12700" cap="flat" cmpd="sng" algn="ctr">
                      <a:solidFill>
                        <a:srgbClr val="2BFF1A"/>
                      </a:solidFill>
                      <a:prstDash val="solid"/>
                      <a:round/>
                      <a:headEnd type="none" w="med" len="med"/>
                      <a:tailEnd type="none" w="med" len="med"/>
                    </a:lnL>
                    <a:lnR w="12700" cap="flat" cmpd="sng" algn="ctr">
                      <a:solidFill>
                        <a:srgbClr val="2BFF1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BFF1A"/>
                      </a:solidFill>
                      <a:prstDash val="solid"/>
                      <a:round/>
                      <a:headEnd type="none" w="med" len="med"/>
                      <a:tailEnd type="none" w="med" len="med"/>
                    </a:lnB>
                    <a:solidFill>
                      <a:srgbClr val="2BFF1A"/>
                    </a:solidFill>
                  </a:tcPr>
                </a:tc>
                <a:tc>
                  <a:txBody>
                    <a:bodyPr/>
                    <a:lstStyle/>
                    <a:p>
                      <a:pPr marL="0" indent="0" algn="ctr">
                        <a:lnSpc>
                          <a:spcPts val="2240"/>
                        </a:lnSpc>
                        <a:buNone/>
                      </a:pPr>
                      <a:r>
                        <a:rPr lang="en-US" sz="1600" b="1" dirty="0">
                          <a:solidFill>
                            <a:srgbClr val="121C22"/>
                          </a:solidFill>
                          <a:latin typeface="Roboto Mono" pitchFamily="49" charset="0"/>
                          <a:ea typeface="Roboto Mono" pitchFamily="49" charset="-122"/>
                          <a:cs typeface="Roboto Mono" pitchFamily="49" charset="-120"/>
                        </a:rPr>
                        <a:t>Cout</a:t>
                      </a:r>
                      <a:endParaRPr lang="en-US" sz="1600" dirty="0">
                        <a:latin typeface="Roboto Mono" charset="0"/>
                        <a:ea typeface="Roboto Mono" charset="0"/>
                        <a:cs typeface="Roboto Mono" charset="0"/>
                      </a:endParaRPr>
                    </a:p>
                  </a:txBody>
                  <a:tcPr marL="71120" marR="71120" marT="71120" marB="71120">
                    <a:lnL w="12700" cap="flat" cmpd="sng" algn="ctr">
                      <a:solidFill>
                        <a:srgbClr val="2BFF1A"/>
                      </a:solidFill>
                      <a:prstDash val="solid"/>
                      <a:round/>
                      <a:headEnd type="none" w="med" len="med"/>
                      <a:tailEnd type="none" w="med" len="med"/>
                    </a:lnL>
                    <a:lnR w="12700" cap="flat" cmpd="sng" algn="ctr">
                      <a:solidFill>
                        <a:srgbClr val="2BFF1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BFF1A"/>
                      </a:solidFill>
                      <a:prstDash val="solid"/>
                      <a:round/>
                      <a:headEnd type="none" w="med" len="med"/>
                      <a:tailEnd type="none" w="med" len="med"/>
                    </a:lnB>
                    <a:solidFill>
                      <a:srgbClr val="2BFF1A"/>
                    </a:solidFill>
                  </a:tcPr>
                </a:tc>
                <a:extLst>
                  <a:ext uri="{0D108BD9-81ED-4DB2-BD59-A6C34878D82A}">
                    <a16:rowId xmlns:a16="http://schemas.microsoft.com/office/drawing/2014/main" val="10000"/>
                  </a:ext>
                </a:extLst>
              </a:tr>
              <a:tr h="436880">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BFF1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BFF1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BFF1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BFF1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BFF1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extLst>
                  <a:ext uri="{0D108BD9-81ED-4DB2-BD59-A6C34878D82A}">
                    <a16:rowId xmlns:a16="http://schemas.microsoft.com/office/drawing/2014/main" val="10001"/>
                  </a:ext>
                </a:extLst>
              </a:tr>
              <a:tr h="436880">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extLst>
                  <a:ext uri="{0D108BD9-81ED-4DB2-BD59-A6C34878D82A}">
                    <a16:rowId xmlns:a16="http://schemas.microsoft.com/office/drawing/2014/main" val="10002"/>
                  </a:ext>
                </a:extLst>
              </a:tr>
              <a:tr h="436880">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extLst>
                  <a:ext uri="{0D108BD9-81ED-4DB2-BD59-A6C34878D82A}">
                    <a16:rowId xmlns:a16="http://schemas.microsoft.com/office/drawing/2014/main" val="10003"/>
                  </a:ext>
                </a:extLst>
              </a:tr>
              <a:tr h="436880">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extLst>
                  <a:ext uri="{0D108BD9-81ED-4DB2-BD59-A6C34878D82A}">
                    <a16:rowId xmlns:a16="http://schemas.microsoft.com/office/drawing/2014/main" val="10004"/>
                  </a:ext>
                </a:extLst>
              </a:tr>
              <a:tr h="436880">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extLst>
                  <a:ext uri="{0D108BD9-81ED-4DB2-BD59-A6C34878D82A}">
                    <a16:rowId xmlns:a16="http://schemas.microsoft.com/office/drawing/2014/main" val="10005"/>
                  </a:ext>
                </a:extLst>
              </a:tr>
              <a:tr h="436880">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extLst>
                  <a:ext uri="{0D108BD9-81ED-4DB2-BD59-A6C34878D82A}">
                    <a16:rowId xmlns:a16="http://schemas.microsoft.com/office/drawing/2014/main" val="10006"/>
                  </a:ext>
                </a:extLst>
              </a:tr>
              <a:tr h="436880">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extLst>
                  <a:ext uri="{0D108BD9-81ED-4DB2-BD59-A6C34878D82A}">
                    <a16:rowId xmlns:a16="http://schemas.microsoft.com/office/drawing/2014/main" val="10007"/>
                  </a:ext>
                </a:extLst>
              </a:tr>
              <a:tr h="436880">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extLst>
                  <a:ext uri="{0D108BD9-81ED-4DB2-BD59-A6C34878D82A}">
                    <a16:rowId xmlns:a16="http://schemas.microsoft.com/office/drawing/2014/main" val="10008"/>
                  </a:ext>
                </a:extLst>
              </a:tr>
            </a:tbl>
          </a:graphicData>
        </a:graphic>
      </p:graphicFrame>
      <p:sp>
        <p:nvSpPr>
          <p:cNvPr id="5" name="Shape 2"/>
          <p:cNvSpPr/>
          <p:nvPr/>
        </p:nvSpPr>
        <p:spPr>
          <a:xfrm>
            <a:off x="6429375" y="1862455"/>
            <a:ext cx="4946650" cy="958850"/>
          </a:xfrm>
          <a:prstGeom prst="roundRect">
            <a:avLst>
              <a:gd name="adj" fmla="val 10265"/>
            </a:avLst>
          </a:prstGeom>
          <a:solidFill>
            <a:srgbClr val="17262D"/>
          </a:solidFill>
          <a:ln w="6350">
            <a:solidFill>
              <a:srgbClr val="2F4A3A"/>
            </a:solidFill>
            <a:prstDash val="solid"/>
          </a:ln>
        </p:spPr>
      </p:sp>
      <p:sp>
        <p:nvSpPr>
          <p:cNvPr id="6" name="Text 3"/>
          <p:cNvSpPr/>
          <p:nvPr/>
        </p:nvSpPr>
        <p:spPr>
          <a:xfrm>
            <a:off x="6634480" y="2067561"/>
            <a:ext cx="467253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FF1A"/>
                </a:solidFill>
                <a:latin typeface="Roboto Mono" pitchFamily="34" charset="0"/>
                <a:ea typeface="Roboto Mono" pitchFamily="34" charset="-122"/>
                <a:cs typeface="Roboto Mono" pitchFamily="34" charset="-120"/>
              </a:rPr>
              <a:t>SUM BIT</a:t>
            </a:r>
            <a:endParaRPr lang="en-US" sz="1200" dirty="0"/>
          </a:p>
        </p:txBody>
      </p:sp>
      <p:sp>
        <p:nvSpPr>
          <p:cNvPr id="7" name="Text 4"/>
          <p:cNvSpPr/>
          <p:nvPr/>
        </p:nvSpPr>
        <p:spPr>
          <a:xfrm>
            <a:off x="6634480" y="2331720"/>
            <a:ext cx="4672533"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2F7F4"/>
                </a:solidFill>
                <a:latin typeface="Roboto Mono" pitchFamily="49" charset="0"/>
                <a:ea typeface="Roboto Mono" pitchFamily="49" charset="-122"/>
                <a:cs typeface="Roboto Mono" pitchFamily="49" charset="-120"/>
              </a:rPr>
              <a:t>Sum = A ⊕ B ⊕ Cin</a:t>
            </a:r>
            <a:endParaRPr lang="en-US" sz="1600" dirty="0"/>
          </a:p>
        </p:txBody>
      </p:sp>
      <p:sp>
        <p:nvSpPr>
          <p:cNvPr id="8" name="Shape 5"/>
          <p:cNvSpPr/>
          <p:nvPr/>
        </p:nvSpPr>
        <p:spPr>
          <a:xfrm>
            <a:off x="6429375" y="2980055"/>
            <a:ext cx="4946650" cy="958850"/>
          </a:xfrm>
          <a:prstGeom prst="roundRect">
            <a:avLst>
              <a:gd name="adj" fmla="val 10265"/>
            </a:avLst>
          </a:prstGeom>
          <a:solidFill>
            <a:srgbClr val="17262D"/>
          </a:solidFill>
          <a:ln w="6350">
            <a:solidFill>
              <a:srgbClr val="2F4A3A"/>
            </a:solidFill>
            <a:prstDash val="solid"/>
          </a:ln>
        </p:spPr>
      </p:sp>
      <p:sp>
        <p:nvSpPr>
          <p:cNvPr id="9" name="Text 6"/>
          <p:cNvSpPr/>
          <p:nvPr/>
        </p:nvSpPr>
        <p:spPr>
          <a:xfrm>
            <a:off x="6634480" y="3185161"/>
            <a:ext cx="467253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FF1A"/>
                </a:solidFill>
                <a:latin typeface="Roboto Mono" pitchFamily="34" charset="0"/>
                <a:ea typeface="Roboto Mono" pitchFamily="34" charset="-122"/>
                <a:cs typeface="Roboto Mono" pitchFamily="34" charset="-120"/>
              </a:rPr>
              <a:t>CARRY OUT</a:t>
            </a:r>
            <a:endParaRPr lang="en-US" sz="1200" dirty="0"/>
          </a:p>
        </p:txBody>
      </p:sp>
      <p:sp>
        <p:nvSpPr>
          <p:cNvPr id="10" name="Text 7"/>
          <p:cNvSpPr/>
          <p:nvPr/>
        </p:nvSpPr>
        <p:spPr>
          <a:xfrm>
            <a:off x="6634480" y="3449320"/>
            <a:ext cx="4672533"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2F7F4"/>
                </a:solidFill>
                <a:latin typeface="Roboto Mono" pitchFamily="49" charset="0"/>
                <a:ea typeface="Roboto Mono" pitchFamily="49" charset="-122"/>
                <a:cs typeface="Roboto Mono" pitchFamily="49" charset="-120"/>
              </a:rPr>
              <a:t>Cout = A·B + Cin·(A ⊕ B)</a:t>
            </a:r>
            <a:endParaRPr lang="en-US" sz="1600" dirty="0"/>
          </a:p>
        </p:txBody>
      </p:sp>
      <p:sp>
        <p:nvSpPr>
          <p:cNvPr id="11" name="Text 8"/>
          <p:cNvSpPr/>
          <p:nvPr/>
        </p:nvSpPr>
        <p:spPr>
          <a:xfrm>
            <a:off x="6426200" y="4094480"/>
            <a:ext cx="510159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Cout is 1 whenever at least two of the three inputs are 1. ⊕ means XOR.</a:t>
            </a:r>
            <a:endParaRPr lang="en-US" sz="1600" dirty="0"/>
          </a:p>
        </p:txBody>
      </p:sp>
      <p:sp>
        <p:nvSpPr>
          <p:cNvPr id="12" name="Text 9"/>
          <p:cNvSpPr/>
          <p:nvPr/>
        </p:nvSpPr>
        <p:spPr>
          <a:xfrm>
            <a:off x="812800" y="6238241"/>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8B0"/>
                </a:solidFill>
                <a:latin typeface="Roboto Mono" pitchFamily="34" charset="0"/>
                <a:ea typeface="Roboto Mono" pitchFamily="34" charset="-122"/>
                <a:cs typeface="Roboto Mono" pitchFamily="34" charset="-120"/>
              </a:rPr>
              <a:t>4-Bit Ripple Carry Adder</a:t>
            </a:r>
            <a:endParaRPr lang="en-US" sz="1200" dirty="0"/>
          </a:p>
        </p:txBody>
      </p:sp>
      <p:sp>
        <p:nvSpPr>
          <p:cNvPr id="13" name="Text 10"/>
          <p:cNvSpPr/>
          <p:nvPr/>
        </p:nvSpPr>
        <p:spPr>
          <a:xfrm>
            <a:off x="10566400" y="6238241"/>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B8B0"/>
                </a:solidFill>
                <a:latin typeface="Roboto Mono" pitchFamily="34" charset="0"/>
                <a:ea typeface="Roboto Mono" pitchFamily="34" charset="-122"/>
                <a:cs typeface="Roboto Mono"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C2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FF1A"/>
                </a:solidFill>
                <a:latin typeface="Roboto Mono" pitchFamily="34" charset="0"/>
                <a:ea typeface="Roboto Mono" pitchFamily="34" charset="-122"/>
                <a:cs typeface="Roboto Mono" pitchFamily="34" charset="-120"/>
              </a:rPr>
              <a:t>DESIGN</a:t>
            </a:r>
            <a:endParaRPr lang="en-US" sz="1200" dirty="0"/>
          </a:p>
        </p:txBody>
      </p:sp>
      <p:sp>
        <p:nvSpPr>
          <p:cNvPr id="3" name="Text 1"/>
          <p:cNvSpPr>
            <a:spLocks noGrp="1"/>
          </p:cNvSpPr>
          <p:nvPr>
            <p:ph type="title"/>
          </p:nvPr>
        </p:nvSpPr>
        <p:spPr>
          <a:xfrm>
            <a:off x="812800" y="11023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2BFF1A"/>
                </a:solidFill>
                <a:latin typeface="Rajdhani" pitchFamily="34" charset="0"/>
                <a:ea typeface="Rajdhani" pitchFamily="34" charset="-122"/>
                <a:cs typeface="Rajdhani" pitchFamily="34" charset="-120"/>
              </a:rPr>
              <a:t>Full Adder from Gates</a:t>
            </a:r>
            <a:endParaRPr lang="en-US" sz="3600" dirty="0"/>
          </a:p>
        </p:txBody>
      </p:sp>
      <p:sp>
        <p:nvSpPr>
          <p:cNvPr id="4" name="Shape 2"/>
          <p:cNvSpPr/>
          <p:nvPr/>
        </p:nvSpPr>
        <p:spPr>
          <a:xfrm>
            <a:off x="815975" y="1913255"/>
            <a:ext cx="3380264" cy="1918970"/>
          </a:xfrm>
          <a:prstGeom prst="roundRect">
            <a:avLst>
              <a:gd name="adj" fmla="val 5129"/>
            </a:avLst>
          </a:prstGeom>
          <a:solidFill>
            <a:srgbClr val="17262D"/>
          </a:solidFill>
          <a:ln w="6350">
            <a:solidFill>
              <a:srgbClr val="2F4A3A"/>
            </a:solidFill>
            <a:prstDash val="solid"/>
          </a:ln>
        </p:spPr>
      </p:sp>
      <p:sp>
        <p:nvSpPr>
          <p:cNvPr id="5" name="Text 3"/>
          <p:cNvSpPr/>
          <p:nvPr/>
        </p:nvSpPr>
        <p:spPr>
          <a:xfrm>
            <a:off x="1071880" y="2169161"/>
            <a:ext cx="2954507"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FF1A"/>
                </a:solidFill>
                <a:latin typeface="Roboto Mono" pitchFamily="34" charset="0"/>
                <a:ea typeface="Roboto Mono" pitchFamily="34" charset="-122"/>
                <a:cs typeface="Roboto Mono" pitchFamily="34" charset="-120"/>
              </a:rPr>
              <a:t>1</a:t>
            </a:r>
            <a:endParaRPr lang="en-US" sz="2200" dirty="0"/>
          </a:p>
        </p:txBody>
      </p:sp>
      <p:sp>
        <p:nvSpPr>
          <p:cNvPr id="6" name="Text 4"/>
          <p:cNvSpPr/>
          <p:nvPr/>
        </p:nvSpPr>
        <p:spPr>
          <a:xfrm>
            <a:off x="1071880" y="2661920"/>
            <a:ext cx="295450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F7F4"/>
                </a:solidFill>
                <a:latin typeface="Roboto Mono" pitchFamily="34" charset="0"/>
                <a:ea typeface="Roboto Mono" pitchFamily="34" charset="-122"/>
                <a:cs typeface="Roboto Mono" pitchFamily="34" charset="-120"/>
              </a:rPr>
              <a:t>First half adder</a:t>
            </a:r>
            <a:endParaRPr lang="en-US" sz="1600" dirty="0"/>
          </a:p>
        </p:txBody>
      </p:sp>
      <p:sp>
        <p:nvSpPr>
          <p:cNvPr id="7" name="Text 5"/>
          <p:cNvSpPr/>
          <p:nvPr/>
        </p:nvSpPr>
        <p:spPr>
          <a:xfrm>
            <a:off x="1071880" y="3007361"/>
            <a:ext cx="2954507"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2F7F4"/>
                </a:solidFill>
                <a:latin typeface="Roboto Mono" pitchFamily="49" charset="0"/>
                <a:ea typeface="Roboto Mono" pitchFamily="49" charset="-122"/>
                <a:cs typeface="Roboto Mono" pitchFamily="49" charset="-120"/>
              </a:rPr>
              <a:t>P = A ⊕ B</a:t>
            </a:r>
            <a:endParaRPr lang="en-US" sz="1600" dirty="0"/>
          </a:p>
          <a:p>
            <a:pPr marL="0" indent="0" algn="l">
              <a:lnSpc>
                <a:spcPts val="2240"/>
              </a:lnSpc>
              <a:buNone/>
            </a:pPr>
            <a:r>
              <a:rPr lang="en-US" sz="1600" dirty="0">
                <a:solidFill>
                  <a:srgbClr val="F2F7F4"/>
                </a:solidFill>
                <a:latin typeface="Roboto Mono" pitchFamily="49" charset="0"/>
                <a:ea typeface="Roboto Mono" pitchFamily="49" charset="-122"/>
                <a:cs typeface="Roboto Mono" pitchFamily="49" charset="-120"/>
              </a:rPr>
              <a:t>G = A·B</a:t>
            </a:r>
            <a:endParaRPr lang="en-US" sz="1600" dirty="0"/>
          </a:p>
        </p:txBody>
      </p:sp>
      <p:sp>
        <p:nvSpPr>
          <p:cNvPr id="8" name="Shape 6"/>
          <p:cNvSpPr/>
          <p:nvPr/>
        </p:nvSpPr>
        <p:spPr>
          <a:xfrm>
            <a:off x="4405789" y="1913255"/>
            <a:ext cx="3380343" cy="1918970"/>
          </a:xfrm>
          <a:prstGeom prst="roundRect">
            <a:avLst>
              <a:gd name="adj" fmla="val 5129"/>
            </a:avLst>
          </a:prstGeom>
          <a:solidFill>
            <a:srgbClr val="17262D"/>
          </a:solidFill>
          <a:ln w="6350">
            <a:solidFill>
              <a:srgbClr val="2F4A3A"/>
            </a:solidFill>
            <a:prstDash val="solid"/>
          </a:ln>
        </p:spPr>
      </p:sp>
      <p:sp>
        <p:nvSpPr>
          <p:cNvPr id="9" name="Text 7"/>
          <p:cNvSpPr/>
          <p:nvPr/>
        </p:nvSpPr>
        <p:spPr>
          <a:xfrm>
            <a:off x="4661694" y="2169161"/>
            <a:ext cx="2954589"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FF1A"/>
                </a:solidFill>
                <a:latin typeface="Roboto Mono" pitchFamily="34" charset="0"/>
                <a:ea typeface="Roboto Mono" pitchFamily="34" charset="-122"/>
                <a:cs typeface="Roboto Mono" pitchFamily="34" charset="-120"/>
              </a:rPr>
              <a:t>2</a:t>
            </a:r>
            <a:endParaRPr lang="en-US" sz="2200" dirty="0"/>
          </a:p>
        </p:txBody>
      </p:sp>
      <p:sp>
        <p:nvSpPr>
          <p:cNvPr id="10" name="Text 8"/>
          <p:cNvSpPr/>
          <p:nvPr/>
        </p:nvSpPr>
        <p:spPr>
          <a:xfrm>
            <a:off x="4661694" y="2661920"/>
            <a:ext cx="29545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F7F4"/>
                </a:solidFill>
                <a:latin typeface="Roboto Mono" pitchFamily="34" charset="0"/>
                <a:ea typeface="Roboto Mono" pitchFamily="34" charset="-122"/>
                <a:cs typeface="Roboto Mono" pitchFamily="34" charset="-120"/>
              </a:rPr>
              <a:t>Second half adder</a:t>
            </a:r>
            <a:endParaRPr lang="en-US" sz="1600" dirty="0"/>
          </a:p>
        </p:txBody>
      </p:sp>
      <p:sp>
        <p:nvSpPr>
          <p:cNvPr id="11" name="Text 9"/>
          <p:cNvSpPr/>
          <p:nvPr/>
        </p:nvSpPr>
        <p:spPr>
          <a:xfrm>
            <a:off x="4661694" y="3007361"/>
            <a:ext cx="2954589"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2F7F4"/>
                </a:solidFill>
                <a:latin typeface="Roboto Mono" pitchFamily="49" charset="0"/>
                <a:ea typeface="Roboto Mono" pitchFamily="49" charset="-122"/>
                <a:cs typeface="Roboto Mono" pitchFamily="49" charset="-120"/>
              </a:rPr>
              <a:t>Sum = P ⊕ Cin</a:t>
            </a:r>
            <a:endParaRPr lang="en-US" sz="1600" dirty="0"/>
          </a:p>
          <a:p>
            <a:pPr marL="0" indent="0" algn="l">
              <a:lnSpc>
                <a:spcPts val="2240"/>
              </a:lnSpc>
              <a:buNone/>
            </a:pPr>
            <a:r>
              <a:rPr lang="en-US" sz="1600" dirty="0">
                <a:solidFill>
                  <a:srgbClr val="F2F7F4"/>
                </a:solidFill>
                <a:latin typeface="Roboto Mono" pitchFamily="49" charset="0"/>
                <a:ea typeface="Roboto Mono" pitchFamily="49" charset="-122"/>
                <a:cs typeface="Roboto Mono" pitchFamily="49" charset="-120"/>
              </a:rPr>
              <a:t>T = P·Cin</a:t>
            </a:r>
            <a:endParaRPr lang="en-US" sz="1600" dirty="0"/>
          </a:p>
        </p:txBody>
      </p:sp>
      <p:sp>
        <p:nvSpPr>
          <p:cNvPr id="12" name="Shape 10"/>
          <p:cNvSpPr/>
          <p:nvPr/>
        </p:nvSpPr>
        <p:spPr>
          <a:xfrm>
            <a:off x="7995682" y="1913255"/>
            <a:ext cx="3380343" cy="1918970"/>
          </a:xfrm>
          <a:prstGeom prst="roundRect">
            <a:avLst>
              <a:gd name="adj" fmla="val 5129"/>
            </a:avLst>
          </a:prstGeom>
          <a:solidFill>
            <a:srgbClr val="17262D"/>
          </a:solidFill>
          <a:ln w="6350">
            <a:solidFill>
              <a:srgbClr val="2F4A3A"/>
            </a:solidFill>
            <a:prstDash val="solid"/>
          </a:ln>
        </p:spPr>
      </p:sp>
      <p:sp>
        <p:nvSpPr>
          <p:cNvPr id="13" name="Text 11"/>
          <p:cNvSpPr/>
          <p:nvPr/>
        </p:nvSpPr>
        <p:spPr>
          <a:xfrm>
            <a:off x="8251587" y="2169161"/>
            <a:ext cx="2954589"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FF1A"/>
                </a:solidFill>
                <a:latin typeface="Roboto Mono" pitchFamily="34" charset="0"/>
                <a:ea typeface="Roboto Mono" pitchFamily="34" charset="-122"/>
                <a:cs typeface="Roboto Mono" pitchFamily="34" charset="-120"/>
              </a:rPr>
              <a:t>3</a:t>
            </a:r>
            <a:endParaRPr lang="en-US" sz="2200" dirty="0"/>
          </a:p>
        </p:txBody>
      </p:sp>
      <p:sp>
        <p:nvSpPr>
          <p:cNvPr id="14" name="Text 12"/>
          <p:cNvSpPr/>
          <p:nvPr/>
        </p:nvSpPr>
        <p:spPr>
          <a:xfrm>
            <a:off x="8251587" y="2661920"/>
            <a:ext cx="29545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F7F4"/>
                </a:solidFill>
                <a:latin typeface="Roboto Mono" pitchFamily="34" charset="0"/>
                <a:ea typeface="Roboto Mono" pitchFamily="34" charset="-122"/>
                <a:cs typeface="Roboto Mono" pitchFamily="34" charset="-120"/>
              </a:rPr>
              <a:t>OR gate</a:t>
            </a:r>
            <a:endParaRPr lang="en-US" sz="1600" dirty="0"/>
          </a:p>
        </p:txBody>
      </p:sp>
      <p:sp>
        <p:nvSpPr>
          <p:cNvPr id="15" name="Text 13"/>
          <p:cNvSpPr/>
          <p:nvPr/>
        </p:nvSpPr>
        <p:spPr>
          <a:xfrm>
            <a:off x="8251587" y="3007361"/>
            <a:ext cx="2954589"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2F7F4"/>
                </a:solidFill>
                <a:latin typeface="Roboto Mono" pitchFamily="49" charset="0"/>
                <a:ea typeface="Roboto Mono" pitchFamily="49" charset="-122"/>
                <a:cs typeface="Roboto Mono" pitchFamily="49" charset="-120"/>
              </a:rPr>
              <a:t>Cout = G + T</a:t>
            </a:r>
            <a:endParaRPr lang="en-US" sz="1600" dirty="0"/>
          </a:p>
          <a:p>
            <a:pPr marL="0" indent="0" algn="l">
              <a:lnSpc>
                <a:spcPts val="2240"/>
              </a:lnSpc>
              <a:buNone/>
            </a:pPr>
            <a:r>
              <a:rPr lang="en-US" sz="1600" dirty="0">
                <a:solidFill>
                  <a:srgbClr val="F2F7F4"/>
                </a:solidFill>
                <a:latin typeface="Roboto Mono" pitchFamily="49" charset="0"/>
                <a:ea typeface="Roboto Mono" pitchFamily="49" charset="-122"/>
                <a:cs typeface="Roboto Mono" pitchFamily="49" charset="-120"/>
              </a:rPr>
              <a:t> </a:t>
            </a:r>
            <a:endParaRPr lang="en-US" sz="1600" dirty="0"/>
          </a:p>
        </p:txBody>
      </p:sp>
      <p:sp>
        <p:nvSpPr>
          <p:cNvPr id="16" name="Shape 14"/>
          <p:cNvSpPr/>
          <p:nvPr/>
        </p:nvSpPr>
        <p:spPr>
          <a:xfrm>
            <a:off x="812800" y="4140200"/>
            <a:ext cx="10566400" cy="1386840"/>
          </a:xfrm>
          <a:prstGeom prst="roundRect">
            <a:avLst>
              <a:gd name="adj" fmla="val 7326"/>
            </a:avLst>
          </a:prstGeom>
          <a:solidFill>
            <a:srgbClr val="0A1216"/>
          </a:solidFill>
          <a:ln w="15875">
            <a:solidFill>
              <a:srgbClr val="2BFF1A"/>
            </a:solidFill>
          </a:ln>
        </p:spPr>
      </p:sp>
      <p:sp>
        <p:nvSpPr>
          <p:cNvPr id="17" name="Text 15"/>
          <p:cNvSpPr/>
          <p:nvPr/>
        </p:nvSpPr>
        <p:spPr>
          <a:xfrm>
            <a:off x="1066800" y="4368800"/>
            <a:ext cx="1036015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FC233"/>
                </a:solidFill>
                <a:latin typeface="Roboto Mono" pitchFamily="34" charset="0"/>
                <a:ea typeface="Roboto Mono" pitchFamily="34" charset="-122"/>
                <a:cs typeface="Roboto Mono" pitchFamily="34" charset="-120"/>
              </a:rPr>
              <a:t>2 XOR + 2 AND + 1 OR = 5 gates per full adder</a:t>
            </a:r>
            <a:endParaRPr lang="en-US" sz="1600" dirty="0"/>
          </a:p>
        </p:txBody>
      </p:sp>
      <p:sp>
        <p:nvSpPr>
          <p:cNvPr id="18" name="Text 16"/>
          <p:cNvSpPr/>
          <p:nvPr/>
        </p:nvSpPr>
        <p:spPr>
          <a:xfrm>
            <a:off x="1066800" y="4729480"/>
            <a:ext cx="1036015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8D4C0"/>
                </a:solidFill>
                <a:latin typeface="Roboto Mono" pitchFamily="34" charset="0"/>
                <a:ea typeface="Roboto Mono" pitchFamily="34" charset="-122"/>
                <a:cs typeface="Roboto Mono" pitchFamily="34" charset="-120"/>
              </a:rPr>
              <a:t>Cin reaches Cout through one AND and one OR (2 gate delays) and reaches Sum through one XOR (1 gate delay).</a:t>
            </a:r>
            <a:endParaRPr lang="en-US" sz="1600" dirty="0"/>
          </a:p>
        </p:txBody>
      </p:sp>
      <p:sp>
        <p:nvSpPr>
          <p:cNvPr id="19" name="Text 17"/>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8B0"/>
                </a:solidFill>
                <a:latin typeface="Roboto Mono" pitchFamily="34" charset="0"/>
                <a:ea typeface="Roboto Mono" pitchFamily="34" charset="-122"/>
                <a:cs typeface="Roboto Mono" pitchFamily="34" charset="-120"/>
              </a:rPr>
              <a:t>4-Bit Ripple Carry Adder</a:t>
            </a:r>
            <a:endParaRPr lang="en-US" sz="1200" dirty="0"/>
          </a:p>
        </p:txBody>
      </p:sp>
      <p:sp>
        <p:nvSpPr>
          <p:cNvPr id="20" name="Text 18"/>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B8B0"/>
                </a:solidFill>
                <a:latin typeface="Roboto Mono" pitchFamily="34" charset="0"/>
                <a:ea typeface="Roboto Mono" pitchFamily="34" charset="-122"/>
                <a:cs typeface="Roboto Mono"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C2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FF1A"/>
                </a:solidFill>
                <a:latin typeface="Roboto Mono" pitchFamily="34" charset="0"/>
                <a:ea typeface="Roboto Mono" pitchFamily="34" charset="-122"/>
                <a:cs typeface="Roboto Mono" pitchFamily="34" charset="-120"/>
              </a:rPr>
              <a:t>DESIGN</a:t>
            </a:r>
            <a:endParaRPr lang="en-US" sz="1200" dirty="0"/>
          </a:p>
        </p:txBody>
      </p:sp>
      <p:sp>
        <p:nvSpPr>
          <p:cNvPr id="3" name="Text 1"/>
          <p:cNvSpPr>
            <a:spLocks noGrp="1"/>
          </p:cNvSpPr>
          <p:nvPr>
            <p:ph type="title"/>
          </p:nvPr>
        </p:nvSpPr>
        <p:spPr>
          <a:xfrm>
            <a:off x="812800" y="11023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2BFF1A"/>
                </a:solidFill>
                <a:latin typeface="Rajdhani" pitchFamily="34" charset="0"/>
                <a:ea typeface="Rajdhani" pitchFamily="34" charset="-122"/>
                <a:cs typeface="Rajdhani" pitchFamily="34" charset="-120"/>
              </a:rPr>
              <a:t>4-Bit Ripple Carry Adder</a:t>
            </a:r>
            <a:endParaRPr lang="en-US" sz="3600" dirty="0"/>
          </a:p>
        </p:txBody>
      </p:sp>
      <p:sp>
        <p:nvSpPr>
          <p:cNvPr id="4" name="Text 2"/>
          <p:cNvSpPr/>
          <p:nvPr/>
        </p:nvSpPr>
        <p:spPr>
          <a:xfrm>
            <a:off x="986917" y="2865121"/>
            <a:ext cx="585216" cy="30988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F8A3D"/>
                </a:solidFill>
                <a:latin typeface="Roboto Mono" pitchFamily="49" charset="0"/>
                <a:ea typeface="Roboto Mono" pitchFamily="49" charset="-122"/>
                <a:cs typeface="Roboto Mono" pitchFamily="49" charset="-120"/>
              </a:rPr>
              <a:t>Cout</a:t>
            </a:r>
            <a:endParaRPr lang="en-US" sz="1600" dirty="0"/>
          </a:p>
        </p:txBody>
      </p:sp>
      <p:pic>
        <p:nvPicPr>
          <p:cNvPr id="5" name="Image 0" descr="arrow-left"/>
          <p:cNvPicPr>
            <a:picLocks noChangeAspect="1"/>
          </p:cNvPicPr>
          <p:nvPr/>
        </p:nvPicPr>
        <p:blipFill>
          <a:blip r:embed="rId3"/>
          <a:srcRect/>
          <a:stretch/>
        </p:blipFill>
        <p:spPr>
          <a:xfrm>
            <a:off x="930275" y="3200400"/>
            <a:ext cx="698500" cy="254000"/>
          </a:xfrm>
          <a:prstGeom prst="rect">
            <a:avLst/>
          </a:prstGeom>
        </p:spPr>
      </p:pic>
      <p:sp>
        <p:nvSpPr>
          <p:cNvPr id="6" name="Text 3"/>
          <p:cNvSpPr/>
          <p:nvPr/>
        </p:nvSpPr>
        <p:spPr>
          <a:xfrm>
            <a:off x="2205990" y="1859282"/>
            <a:ext cx="731520" cy="30988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2F7F4"/>
                </a:solidFill>
                <a:latin typeface="Roboto Mono" pitchFamily="49" charset="0"/>
                <a:ea typeface="Roboto Mono" pitchFamily="49" charset="-122"/>
                <a:cs typeface="Roboto Mono" pitchFamily="49" charset="-120"/>
              </a:rPr>
              <a:t>A3 B3</a:t>
            </a:r>
            <a:endParaRPr lang="en-US" sz="1600" dirty="0"/>
          </a:p>
        </p:txBody>
      </p:sp>
      <p:pic>
        <p:nvPicPr>
          <p:cNvPr id="7" name="Image 1" descr="arrow-down"/>
          <p:cNvPicPr>
            <a:picLocks noChangeAspect="1"/>
          </p:cNvPicPr>
          <p:nvPr/>
        </p:nvPicPr>
        <p:blipFill>
          <a:blip r:embed="rId4"/>
          <a:srcRect/>
          <a:stretch/>
        </p:blipFill>
        <p:spPr>
          <a:xfrm>
            <a:off x="2444750" y="2219961"/>
            <a:ext cx="254000" cy="355600"/>
          </a:xfrm>
          <a:prstGeom prst="rect">
            <a:avLst/>
          </a:prstGeom>
        </p:spPr>
      </p:pic>
      <p:sp>
        <p:nvSpPr>
          <p:cNvPr id="8" name="Text 4"/>
          <p:cNvSpPr/>
          <p:nvPr/>
        </p:nvSpPr>
        <p:spPr>
          <a:xfrm>
            <a:off x="1746250" y="2651761"/>
            <a:ext cx="1651000" cy="1016000"/>
          </a:xfrm>
          <a:prstGeom prst="roundRect">
            <a:avLst>
              <a:gd name="adj" fmla="val 10000"/>
            </a:avLst>
          </a:prstGeom>
          <a:solidFill>
            <a:srgbClr val="0A1216"/>
          </a:solidFill>
          <a:ln w="15875">
            <a:solidFill>
              <a:srgbClr val="2BFF1A"/>
            </a:solidFill>
          </a:ln>
        </p:spPr>
        <p:txBody>
          <a:bodyPr wrap="square" lIns="0" tIns="0" rIns="0" bIns="0" rtlCol="0" anchor="ctr">
            <a:normAutofit/>
          </a:bodyPr>
          <a:lstStyle/>
          <a:p>
            <a:pPr marL="0" indent="0" algn="ctr">
              <a:lnSpc>
                <a:spcPts val="3080"/>
              </a:lnSpc>
              <a:buNone/>
            </a:pPr>
            <a:r>
              <a:rPr lang="en-US" sz="2200" b="1" dirty="0">
                <a:solidFill>
                  <a:srgbClr val="F2F7F4"/>
                </a:solidFill>
                <a:latin typeface="Roboto Mono" pitchFamily="34" charset="0"/>
                <a:ea typeface="Roboto Mono" pitchFamily="34" charset="-122"/>
                <a:cs typeface="Roboto Mono" pitchFamily="34" charset="-120"/>
              </a:rPr>
              <a:t>FA3</a:t>
            </a:r>
            <a:endParaRPr lang="en-US" sz="2200" dirty="0"/>
          </a:p>
        </p:txBody>
      </p:sp>
      <p:pic>
        <p:nvPicPr>
          <p:cNvPr id="9" name="Image 2" descr="arrow-down"/>
          <p:cNvPicPr>
            <a:picLocks noChangeAspect="1"/>
          </p:cNvPicPr>
          <p:nvPr/>
        </p:nvPicPr>
        <p:blipFill>
          <a:blip r:embed="rId4"/>
          <a:srcRect/>
          <a:stretch/>
        </p:blipFill>
        <p:spPr>
          <a:xfrm>
            <a:off x="2444750" y="3743961"/>
            <a:ext cx="254000" cy="355600"/>
          </a:xfrm>
          <a:prstGeom prst="rect">
            <a:avLst/>
          </a:prstGeom>
        </p:spPr>
      </p:pic>
      <p:sp>
        <p:nvSpPr>
          <p:cNvPr id="10" name="Text 5"/>
          <p:cNvSpPr/>
          <p:nvPr/>
        </p:nvSpPr>
        <p:spPr>
          <a:xfrm>
            <a:off x="2424430" y="4175761"/>
            <a:ext cx="294640" cy="30988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2F7F4"/>
                </a:solidFill>
                <a:latin typeface="Roboto Mono" pitchFamily="49" charset="0"/>
                <a:ea typeface="Roboto Mono" pitchFamily="49" charset="-122"/>
                <a:cs typeface="Roboto Mono" pitchFamily="49" charset="-120"/>
              </a:rPr>
              <a:t>S3</a:t>
            </a:r>
            <a:endParaRPr lang="en-US" sz="1600" dirty="0"/>
          </a:p>
        </p:txBody>
      </p:sp>
      <p:sp>
        <p:nvSpPr>
          <p:cNvPr id="11" name="Text 6"/>
          <p:cNvSpPr/>
          <p:nvPr/>
        </p:nvSpPr>
        <p:spPr>
          <a:xfrm>
            <a:off x="3599180" y="2865121"/>
            <a:ext cx="294640" cy="30988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F8A3D"/>
                </a:solidFill>
                <a:latin typeface="Roboto Mono" pitchFamily="49" charset="0"/>
                <a:ea typeface="Roboto Mono" pitchFamily="49" charset="-122"/>
                <a:cs typeface="Roboto Mono" pitchFamily="49" charset="-120"/>
              </a:rPr>
              <a:t>C3</a:t>
            </a:r>
            <a:endParaRPr lang="en-US" sz="1600" dirty="0"/>
          </a:p>
        </p:txBody>
      </p:sp>
      <p:pic>
        <p:nvPicPr>
          <p:cNvPr id="12" name="Image 3" descr="arrow-left"/>
          <p:cNvPicPr>
            <a:picLocks noChangeAspect="1"/>
          </p:cNvPicPr>
          <p:nvPr/>
        </p:nvPicPr>
        <p:blipFill>
          <a:blip r:embed="rId3"/>
          <a:srcRect/>
          <a:stretch/>
        </p:blipFill>
        <p:spPr>
          <a:xfrm>
            <a:off x="3397250" y="3200400"/>
            <a:ext cx="698500" cy="254000"/>
          </a:xfrm>
          <a:prstGeom prst="rect">
            <a:avLst/>
          </a:prstGeom>
        </p:spPr>
      </p:pic>
      <p:sp>
        <p:nvSpPr>
          <p:cNvPr id="13" name="Text 7"/>
          <p:cNvSpPr/>
          <p:nvPr/>
        </p:nvSpPr>
        <p:spPr>
          <a:xfrm>
            <a:off x="4555490" y="1859282"/>
            <a:ext cx="731520" cy="30988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2F7F4"/>
                </a:solidFill>
                <a:latin typeface="Roboto Mono" pitchFamily="49" charset="0"/>
                <a:ea typeface="Roboto Mono" pitchFamily="49" charset="-122"/>
                <a:cs typeface="Roboto Mono" pitchFamily="49" charset="-120"/>
              </a:rPr>
              <a:t>A2 B2</a:t>
            </a:r>
            <a:endParaRPr lang="en-US" sz="1600" dirty="0"/>
          </a:p>
        </p:txBody>
      </p:sp>
      <p:pic>
        <p:nvPicPr>
          <p:cNvPr id="14" name="Image 4" descr="arrow-down"/>
          <p:cNvPicPr>
            <a:picLocks noChangeAspect="1"/>
          </p:cNvPicPr>
          <p:nvPr/>
        </p:nvPicPr>
        <p:blipFill>
          <a:blip r:embed="rId4"/>
          <a:srcRect/>
          <a:stretch/>
        </p:blipFill>
        <p:spPr>
          <a:xfrm>
            <a:off x="4794250" y="2219961"/>
            <a:ext cx="254000" cy="355600"/>
          </a:xfrm>
          <a:prstGeom prst="rect">
            <a:avLst/>
          </a:prstGeom>
        </p:spPr>
      </p:pic>
      <p:sp>
        <p:nvSpPr>
          <p:cNvPr id="15" name="Text 8"/>
          <p:cNvSpPr/>
          <p:nvPr/>
        </p:nvSpPr>
        <p:spPr>
          <a:xfrm>
            <a:off x="4095750" y="2651761"/>
            <a:ext cx="1651000" cy="1016000"/>
          </a:xfrm>
          <a:prstGeom prst="roundRect">
            <a:avLst>
              <a:gd name="adj" fmla="val 10000"/>
            </a:avLst>
          </a:prstGeom>
          <a:solidFill>
            <a:srgbClr val="0A1216"/>
          </a:solidFill>
          <a:ln w="15875">
            <a:solidFill>
              <a:srgbClr val="2BFF1A"/>
            </a:solidFill>
          </a:ln>
        </p:spPr>
        <p:txBody>
          <a:bodyPr wrap="square" lIns="0" tIns="0" rIns="0" bIns="0" rtlCol="0" anchor="ctr">
            <a:normAutofit/>
          </a:bodyPr>
          <a:lstStyle/>
          <a:p>
            <a:pPr marL="0" indent="0" algn="ctr">
              <a:lnSpc>
                <a:spcPts val="3080"/>
              </a:lnSpc>
              <a:buNone/>
            </a:pPr>
            <a:r>
              <a:rPr lang="en-US" sz="2200" b="1" dirty="0">
                <a:solidFill>
                  <a:srgbClr val="F2F7F4"/>
                </a:solidFill>
                <a:latin typeface="Roboto Mono" pitchFamily="34" charset="0"/>
                <a:ea typeface="Roboto Mono" pitchFamily="34" charset="-122"/>
                <a:cs typeface="Roboto Mono" pitchFamily="34" charset="-120"/>
              </a:rPr>
              <a:t>FA2</a:t>
            </a:r>
            <a:endParaRPr lang="en-US" sz="2200" dirty="0"/>
          </a:p>
        </p:txBody>
      </p:sp>
      <p:pic>
        <p:nvPicPr>
          <p:cNvPr id="16" name="Image 5" descr="arrow-down"/>
          <p:cNvPicPr>
            <a:picLocks noChangeAspect="1"/>
          </p:cNvPicPr>
          <p:nvPr/>
        </p:nvPicPr>
        <p:blipFill>
          <a:blip r:embed="rId4"/>
          <a:srcRect/>
          <a:stretch/>
        </p:blipFill>
        <p:spPr>
          <a:xfrm>
            <a:off x="4794250" y="3743961"/>
            <a:ext cx="254000" cy="355600"/>
          </a:xfrm>
          <a:prstGeom prst="rect">
            <a:avLst/>
          </a:prstGeom>
        </p:spPr>
      </p:pic>
      <p:sp>
        <p:nvSpPr>
          <p:cNvPr id="17" name="Text 9"/>
          <p:cNvSpPr/>
          <p:nvPr/>
        </p:nvSpPr>
        <p:spPr>
          <a:xfrm>
            <a:off x="4773930" y="4175761"/>
            <a:ext cx="294640" cy="30988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2F7F4"/>
                </a:solidFill>
                <a:latin typeface="Roboto Mono" pitchFamily="49" charset="0"/>
                <a:ea typeface="Roboto Mono" pitchFamily="49" charset="-122"/>
                <a:cs typeface="Roboto Mono" pitchFamily="49" charset="-120"/>
              </a:rPr>
              <a:t>S2</a:t>
            </a:r>
            <a:endParaRPr lang="en-US" sz="1600" dirty="0"/>
          </a:p>
        </p:txBody>
      </p:sp>
      <p:sp>
        <p:nvSpPr>
          <p:cNvPr id="18" name="Text 10"/>
          <p:cNvSpPr/>
          <p:nvPr/>
        </p:nvSpPr>
        <p:spPr>
          <a:xfrm>
            <a:off x="5948680" y="2865121"/>
            <a:ext cx="294640" cy="30988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F8A3D"/>
                </a:solidFill>
                <a:latin typeface="Roboto Mono" pitchFamily="49" charset="0"/>
                <a:ea typeface="Roboto Mono" pitchFamily="49" charset="-122"/>
                <a:cs typeface="Roboto Mono" pitchFamily="49" charset="-120"/>
              </a:rPr>
              <a:t>C2</a:t>
            </a:r>
            <a:endParaRPr lang="en-US" sz="1600" dirty="0"/>
          </a:p>
        </p:txBody>
      </p:sp>
      <p:pic>
        <p:nvPicPr>
          <p:cNvPr id="19" name="Image 6" descr="arrow-left"/>
          <p:cNvPicPr>
            <a:picLocks noChangeAspect="1"/>
          </p:cNvPicPr>
          <p:nvPr/>
        </p:nvPicPr>
        <p:blipFill>
          <a:blip r:embed="rId3"/>
          <a:srcRect/>
          <a:stretch/>
        </p:blipFill>
        <p:spPr>
          <a:xfrm>
            <a:off x="5746750" y="3200400"/>
            <a:ext cx="698500" cy="254000"/>
          </a:xfrm>
          <a:prstGeom prst="rect">
            <a:avLst/>
          </a:prstGeom>
        </p:spPr>
      </p:pic>
      <p:sp>
        <p:nvSpPr>
          <p:cNvPr id="20" name="Text 11"/>
          <p:cNvSpPr/>
          <p:nvPr/>
        </p:nvSpPr>
        <p:spPr>
          <a:xfrm>
            <a:off x="6904990" y="1859282"/>
            <a:ext cx="731520" cy="30988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2F7F4"/>
                </a:solidFill>
                <a:latin typeface="Roboto Mono" pitchFamily="49" charset="0"/>
                <a:ea typeface="Roboto Mono" pitchFamily="49" charset="-122"/>
                <a:cs typeface="Roboto Mono" pitchFamily="49" charset="-120"/>
              </a:rPr>
              <a:t>A1 B1</a:t>
            </a:r>
            <a:endParaRPr lang="en-US" sz="1600" dirty="0"/>
          </a:p>
        </p:txBody>
      </p:sp>
      <p:pic>
        <p:nvPicPr>
          <p:cNvPr id="21" name="Image 7" descr="arrow-down"/>
          <p:cNvPicPr>
            <a:picLocks noChangeAspect="1"/>
          </p:cNvPicPr>
          <p:nvPr/>
        </p:nvPicPr>
        <p:blipFill>
          <a:blip r:embed="rId4"/>
          <a:srcRect/>
          <a:stretch/>
        </p:blipFill>
        <p:spPr>
          <a:xfrm>
            <a:off x="7143750" y="2219961"/>
            <a:ext cx="254000" cy="355600"/>
          </a:xfrm>
          <a:prstGeom prst="rect">
            <a:avLst/>
          </a:prstGeom>
        </p:spPr>
      </p:pic>
      <p:sp>
        <p:nvSpPr>
          <p:cNvPr id="22" name="Text 12"/>
          <p:cNvSpPr/>
          <p:nvPr/>
        </p:nvSpPr>
        <p:spPr>
          <a:xfrm>
            <a:off x="6445250" y="2651761"/>
            <a:ext cx="1651000" cy="1016000"/>
          </a:xfrm>
          <a:prstGeom prst="roundRect">
            <a:avLst>
              <a:gd name="adj" fmla="val 10000"/>
            </a:avLst>
          </a:prstGeom>
          <a:solidFill>
            <a:srgbClr val="0A1216"/>
          </a:solidFill>
          <a:ln w="15875">
            <a:solidFill>
              <a:srgbClr val="2BFF1A"/>
            </a:solidFill>
          </a:ln>
        </p:spPr>
        <p:txBody>
          <a:bodyPr wrap="square" lIns="0" tIns="0" rIns="0" bIns="0" rtlCol="0" anchor="ctr">
            <a:normAutofit/>
          </a:bodyPr>
          <a:lstStyle/>
          <a:p>
            <a:pPr marL="0" indent="0" algn="ctr">
              <a:lnSpc>
                <a:spcPts val="3080"/>
              </a:lnSpc>
              <a:buNone/>
            </a:pPr>
            <a:r>
              <a:rPr lang="en-US" sz="2200" b="1" dirty="0">
                <a:solidFill>
                  <a:srgbClr val="F2F7F4"/>
                </a:solidFill>
                <a:latin typeface="Roboto Mono" pitchFamily="34" charset="0"/>
                <a:ea typeface="Roboto Mono" pitchFamily="34" charset="-122"/>
                <a:cs typeface="Roboto Mono" pitchFamily="34" charset="-120"/>
              </a:rPr>
              <a:t>FA1</a:t>
            </a:r>
            <a:endParaRPr lang="en-US" sz="2200" dirty="0"/>
          </a:p>
        </p:txBody>
      </p:sp>
      <p:pic>
        <p:nvPicPr>
          <p:cNvPr id="23" name="Image 8" descr="arrow-down"/>
          <p:cNvPicPr>
            <a:picLocks noChangeAspect="1"/>
          </p:cNvPicPr>
          <p:nvPr/>
        </p:nvPicPr>
        <p:blipFill>
          <a:blip r:embed="rId4"/>
          <a:srcRect/>
          <a:stretch/>
        </p:blipFill>
        <p:spPr>
          <a:xfrm>
            <a:off x="7143750" y="3743961"/>
            <a:ext cx="254000" cy="355600"/>
          </a:xfrm>
          <a:prstGeom prst="rect">
            <a:avLst/>
          </a:prstGeom>
        </p:spPr>
      </p:pic>
      <p:sp>
        <p:nvSpPr>
          <p:cNvPr id="24" name="Text 13"/>
          <p:cNvSpPr/>
          <p:nvPr/>
        </p:nvSpPr>
        <p:spPr>
          <a:xfrm>
            <a:off x="7123430" y="4175761"/>
            <a:ext cx="294640" cy="30988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2F7F4"/>
                </a:solidFill>
                <a:latin typeface="Roboto Mono" pitchFamily="49" charset="0"/>
                <a:ea typeface="Roboto Mono" pitchFamily="49" charset="-122"/>
                <a:cs typeface="Roboto Mono" pitchFamily="49" charset="-120"/>
              </a:rPr>
              <a:t>S1</a:t>
            </a:r>
            <a:endParaRPr lang="en-US" sz="1600" dirty="0"/>
          </a:p>
        </p:txBody>
      </p:sp>
      <p:sp>
        <p:nvSpPr>
          <p:cNvPr id="25" name="Text 14"/>
          <p:cNvSpPr/>
          <p:nvPr/>
        </p:nvSpPr>
        <p:spPr>
          <a:xfrm>
            <a:off x="8298180" y="2865121"/>
            <a:ext cx="294640" cy="30988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F8A3D"/>
                </a:solidFill>
                <a:latin typeface="Roboto Mono" pitchFamily="49" charset="0"/>
                <a:ea typeface="Roboto Mono" pitchFamily="49" charset="-122"/>
                <a:cs typeface="Roboto Mono" pitchFamily="49" charset="-120"/>
              </a:rPr>
              <a:t>C1</a:t>
            </a:r>
            <a:endParaRPr lang="en-US" sz="1600" dirty="0"/>
          </a:p>
        </p:txBody>
      </p:sp>
      <p:pic>
        <p:nvPicPr>
          <p:cNvPr id="26" name="Image 9" descr="arrow-left"/>
          <p:cNvPicPr>
            <a:picLocks noChangeAspect="1"/>
          </p:cNvPicPr>
          <p:nvPr/>
        </p:nvPicPr>
        <p:blipFill>
          <a:blip r:embed="rId3"/>
          <a:srcRect/>
          <a:stretch/>
        </p:blipFill>
        <p:spPr>
          <a:xfrm>
            <a:off x="8096250" y="3200400"/>
            <a:ext cx="698500" cy="254000"/>
          </a:xfrm>
          <a:prstGeom prst="rect">
            <a:avLst/>
          </a:prstGeom>
        </p:spPr>
      </p:pic>
      <p:sp>
        <p:nvSpPr>
          <p:cNvPr id="27" name="Text 15"/>
          <p:cNvSpPr/>
          <p:nvPr/>
        </p:nvSpPr>
        <p:spPr>
          <a:xfrm>
            <a:off x="9254490" y="1859282"/>
            <a:ext cx="731520" cy="30988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2F7F4"/>
                </a:solidFill>
                <a:latin typeface="Roboto Mono" pitchFamily="49" charset="0"/>
                <a:ea typeface="Roboto Mono" pitchFamily="49" charset="-122"/>
                <a:cs typeface="Roboto Mono" pitchFamily="49" charset="-120"/>
              </a:rPr>
              <a:t>A0 B0</a:t>
            </a:r>
            <a:endParaRPr lang="en-US" sz="1600" dirty="0"/>
          </a:p>
        </p:txBody>
      </p:sp>
      <p:pic>
        <p:nvPicPr>
          <p:cNvPr id="28" name="Image 10" descr="arrow-down"/>
          <p:cNvPicPr>
            <a:picLocks noChangeAspect="1"/>
          </p:cNvPicPr>
          <p:nvPr/>
        </p:nvPicPr>
        <p:blipFill>
          <a:blip r:embed="rId4"/>
          <a:srcRect/>
          <a:stretch/>
        </p:blipFill>
        <p:spPr>
          <a:xfrm>
            <a:off x="9493250" y="2219961"/>
            <a:ext cx="254000" cy="355600"/>
          </a:xfrm>
          <a:prstGeom prst="rect">
            <a:avLst/>
          </a:prstGeom>
        </p:spPr>
      </p:pic>
      <p:sp>
        <p:nvSpPr>
          <p:cNvPr id="29" name="Text 16"/>
          <p:cNvSpPr/>
          <p:nvPr/>
        </p:nvSpPr>
        <p:spPr>
          <a:xfrm>
            <a:off x="8794750" y="2651761"/>
            <a:ext cx="1651000" cy="1016000"/>
          </a:xfrm>
          <a:prstGeom prst="roundRect">
            <a:avLst>
              <a:gd name="adj" fmla="val 10000"/>
            </a:avLst>
          </a:prstGeom>
          <a:solidFill>
            <a:srgbClr val="0A1216"/>
          </a:solidFill>
          <a:ln w="15875">
            <a:solidFill>
              <a:srgbClr val="2BFF1A"/>
            </a:solidFill>
          </a:ln>
        </p:spPr>
        <p:txBody>
          <a:bodyPr wrap="square" lIns="0" tIns="0" rIns="0" bIns="0" rtlCol="0" anchor="ctr">
            <a:normAutofit/>
          </a:bodyPr>
          <a:lstStyle/>
          <a:p>
            <a:pPr marL="0" indent="0" algn="ctr">
              <a:lnSpc>
                <a:spcPts val="3080"/>
              </a:lnSpc>
              <a:buNone/>
            </a:pPr>
            <a:r>
              <a:rPr lang="en-US" sz="2200" b="1" dirty="0">
                <a:solidFill>
                  <a:srgbClr val="F2F7F4"/>
                </a:solidFill>
                <a:latin typeface="Roboto Mono" pitchFamily="34" charset="0"/>
                <a:ea typeface="Roboto Mono" pitchFamily="34" charset="-122"/>
                <a:cs typeface="Roboto Mono" pitchFamily="34" charset="-120"/>
              </a:rPr>
              <a:t>FA0</a:t>
            </a:r>
            <a:endParaRPr lang="en-US" sz="2200" dirty="0"/>
          </a:p>
        </p:txBody>
      </p:sp>
      <p:pic>
        <p:nvPicPr>
          <p:cNvPr id="30" name="Image 11" descr="arrow-down"/>
          <p:cNvPicPr>
            <a:picLocks noChangeAspect="1"/>
          </p:cNvPicPr>
          <p:nvPr/>
        </p:nvPicPr>
        <p:blipFill>
          <a:blip r:embed="rId4"/>
          <a:srcRect/>
          <a:stretch/>
        </p:blipFill>
        <p:spPr>
          <a:xfrm>
            <a:off x="9493250" y="3743961"/>
            <a:ext cx="254000" cy="355600"/>
          </a:xfrm>
          <a:prstGeom prst="rect">
            <a:avLst/>
          </a:prstGeom>
        </p:spPr>
      </p:pic>
      <p:sp>
        <p:nvSpPr>
          <p:cNvPr id="31" name="Text 17"/>
          <p:cNvSpPr/>
          <p:nvPr/>
        </p:nvSpPr>
        <p:spPr>
          <a:xfrm>
            <a:off x="9472930" y="4175761"/>
            <a:ext cx="294640" cy="30988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2F7F4"/>
                </a:solidFill>
                <a:latin typeface="Roboto Mono" pitchFamily="49" charset="0"/>
                <a:ea typeface="Roboto Mono" pitchFamily="49" charset="-122"/>
                <a:cs typeface="Roboto Mono" pitchFamily="49" charset="-120"/>
              </a:rPr>
              <a:t>S0</a:t>
            </a:r>
            <a:endParaRPr lang="en-US" sz="1600" dirty="0"/>
          </a:p>
        </p:txBody>
      </p:sp>
      <p:sp>
        <p:nvSpPr>
          <p:cNvPr id="32" name="Text 18"/>
          <p:cNvSpPr/>
          <p:nvPr/>
        </p:nvSpPr>
        <p:spPr>
          <a:xfrm>
            <a:off x="10546715" y="2865121"/>
            <a:ext cx="731520" cy="30988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F8A3D"/>
                </a:solidFill>
                <a:latin typeface="Roboto Mono" pitchFamily="49" charset="0"/>
                <a:ea typeface="Roboto Mono" pitchFamily="49" charset="-122"/>
                <a:cs typeface="Roboto Mono" pitchFamily="49" charset="-120"/>
              </a:rPr>
              <a:t>Cin=0</a:t>
            </a:r>
            <a:endParaRPr lang="en-US" sz="1600" dirty="0"/>
          </a:p>
        </p:txBody>
      </p:sp>
      <p:pic>
        <p:nvPicPr>
          <p:cNvPr id="33" name="Image 12" descr="arrow-left"/>
          <p:cNvPicPr>
            <a:picLocks noChangeAspect="1"/>
          </p:cNvPicPr>
          <p:nvPr/>
        </p:nvPicPr>
        <p:blipFill>
          <a:blip r:embed="rId3"/>
          <a:srcRect/>
          <a:stretch/>
        </p:blipFill>
        <p:spPr>
          <a:xfrm>
            <a:off x="10563225" y="3200400"/>
            <a:ext cx="698500" cy="254000"/>
          </a:xfrm>
          <a:prstGeom prst="rect">
            <a:avLst/>
          </a:prstGeom>
        </p:spPr>
      </p:pic>
      <p:sp>
        <p:nvSpPr>
          <p:cNvPr id="34" name="Text 19"/>
          <p:cNvSpPr/>
          <p:nvPr/>
        </p:nvSpPr>
        <p:spPr>
          <a:xfrm>
            <a:off x="812800" y="4714239"/>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Each stage's Cout feeds the next stage's Cin. FA0 takes Cin = 0.</a:t>
            </a:r>
            <a:endParaRPr lang="en-US" sz="1600" dirty="0"/>
          </a:p>
        </p:txBody>
      </p:sp>
      <p:sp>
        <p:nvSpPr>
          <p:cNvPr id="35" name="Text 20"/>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8B0"/>
                </a:solidFill>
                <a:latin typeface="Roboto Mono" pitchFamily="34" charset="0"/>
                <a:ea typeface="Roboto Mono" pitchFamily="34" charset="-122"/>
                <a:cs typeface="Roboto Mono" pitchFamily="34" charset="-120"/>
              </a:rPr>
              <a:t>4-Bit Ripple Carry Adder</a:t>
            </a:r>
            <a:endParaRPr lang="en-US" sz="1200" dirty="0"/>
          </a:p>
        </p:txBody>
      </p:sp>
      <p:sp>
        <p:nvSpPr>
          <p:cNvPr id="36" name="Text 21"/>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B8B0"/>
                </a:solidFill>
                <a:latin typeface="Roboto Mono" pitchFamily="34" charset="0"/>
                <a:ea typeface="Roboto Mono" pitchFamily="34" charset="-122"/>
                <a:cs typeface="Roboto Mono"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C2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FF1A"/>
                </a:solidFill>
                <a:latin typeface="Roboto Mono" pitchFamily="34" charset="0"/>
                <a:ea typeface="Roboto Mono" pitchFamily="34" charset="-122"/>
                <a:cs typeface="Roboto Mono" pitchFamily="34" charset="-120"/>
              </a:rPr>
              <a:t>SECTION 2</a:t>
            </a:r>
            <a:endParaRPr lang="en-US" sz="1200" dirty="0"/>
          </a:p>
        </p:txBody>
      </p:sp>
      <p:sp>
        <p:nvSpPr>
          <p:cNvPr id="3" name="Text 1"/>
          <p:cNvSpPr>
            <a:spLocks noGrp="1"/>
          </p:cNvSpPr>
          <p:nvPr>
            <p:ph type="title"/>
          </p:nvPr>
        </p:nvSpPr>
        <p:spPr>
          <a:xfrm>
            <a:off x="812800" y="11023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2BFF1A"/>
                </a:solidFill>
                <a:latin typeface="Rajdhani" pitchFamily="34" charset="0"/>
                <a:ea typeface="Rajdhani" pitchFamily="34" charset="-122"/>
                <a:cs typeface="Rajdhani" pitchFamily="34" charset="-120"/>
              </a:rPr>
              <a:t>Design Methodology</a:t>
            </a:r>
            <a:endParaRPr lang="en-US" sz="3600" dirty="0"/>
          </a:p>
        </p:txBody>
      </p:sp>
      <p:sp>
        <p:nvSpPr>
          <p:cNvPr id="4" name="Shape 2"/>
          <p:cNvSpPr/>
          <p:nvPr/>
        </p:nvSpPr>
        <p:spPr>
          <a:xfrm>
            <a:off x="815975" y="1862457"/>
            <a:ext cx="10560050" cy="664210"/>
          </a:xfrm>
          <a:prstGeom prst="roundRect">
            <a:avLst>
              <a:gd name="adj" fmla="val 14818"/>
            </a:avLst>
          </a:prstGeom>
          <a:solidFill>
            <a:srgbClr val="17262D"/>
          </a:solidFill>
          <a:ln w="6350">
            <a:solidFill>
              <a:srgbClr val="2F4A3A"/>
            </a:solidFill>
            <a:prstDash val="solid"/>
          </a:ln>
        </p:spPr>
      </p:sp>
      <p:sp>
        <p:nvSpPr>
          <p:cNvPr id="5" name="Text 3"/>
          <p:cNvSpPr/>
          <p:nvPr/>
        </p:nvSpPr>
        <p:spPr>
          <a:xfrm>
            <a:off x="1021080" y="199136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2BFF1A"/>
          </a:solidFill>
          <a:ln/>
        </p:spPr>
        <p:txBody>
          <a:bodyPr wrap="square" lIns="0" tIns="0" rIns="0" bIns="0" rtlCol="0" anchor="t">
            <a:normAutofit/>
          </a:bodyPr>
          <a:lstStyle/>
          <a:p>
            <a:pPr marL="0" indent="0" algn="ctr">
              <a:lnSpc>
                <a:spcPts val="3200"/>
              </a:lnSpc>
              <a:buNone/>
            </a:pPr>
            <a:r>
              <a:rPr lang="en-US" sz="1600" b="1" dirty="0">
                <a:solidFill>
                  <a:srgbClr val="F2F7F4"/>
                </a:solidFill>
                <a:latin typeface="Roboto Mono" pitchFamily="34" charset="0"/>
                <a:ea typeface="Roboto Mono" pitchFamily="34" charset="-122"/>
                <a:cs typeface="Roboto Mono" pitchFamily="34" charset="-120"/>
              </a:rPr>
              <a:t>1</a:t>
            </a:r>
            <a:endParaRPr lang="en-US" sz="1600" dirty="0"/>
          </a:p>
        </p:txBody>
      </p:sp>
      <p:sp>
        <p:nvSpPr>
          <p:cNvPr id="6" name="Text 4"/>
          <p:cNvSpPr/>
          <p:nvPr/>
        </p:nvSpPr>
        <p:spPr>
          <a:xfrm>
            <a:off x="1630680" y="2072639"/>
            <a:ext cx="313944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F7F4"/>
                </a:solidFill>
                <a:latin typeface="Roboto Mono" pitchFamily="34" charset="0"/>
                <a:ea typeface="Roboto Mono" pitchFamily="34" charset="-122"/>
                <a:cs typeface="Roboto Mono" pitchFamily="34" charset="-120"/>
              </a:rPr>
              <a:t>Define the ports</a:t>
            </a:r>
            <a:endParaRPr lang="en-US" sz="1600" dirty="0"/>
          </a:p>
        </p:txBody>
      </p:sp>
      <p:sp>
        <p:nvSpPr>
          <p:cNvPr id="7" name="Text 5"/>
          <p:cNvSpPr/>
          <p:nvPr/>
        </p:nvSpPr>
        <p:spPr>
          <a:xfrm>
            <a:off x="4881880" y="2052321"/>
            <a:ext cx="6477711"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Inputs A3–A0, B3–B0, Cin. Outputs S3–S0, Cout.</a:t>
            </a:r>
            <a:endParaRPr lang="en-US" sz="1600" dirty="0"/>
          </a:p>
        </p:txBody>
      </p:sp>
      <p:sp>
        <p:nvSpPr>
          <p:cNvPr id="8" name="Shape 6"/>
          <p:cNvSpPr/>
          <p:nvPr/>
        </p:nvSpPr>
        <p:spPr>
          <a:xfrm>
            <a:off x="815975" y="2634614"/>
            <a:ext cx="10560050" cy="664210"/>
          </a:xfrm>
          <a:prstGeom prst="roundRect">
            <a:avLst>
              <a:gd name="adj" fmla="val 14818"/>
            </a:avLst>
          </a:prstGeom>
          <a:solidFill>
            <a:srgbClr val="17262D"/>
          </a:solidFill>
          <a:ln w="6350">
            <a:solidFill>
              <a:srgbClr val="2F4A3A"/>
            </a:solidFill>
            <a:prstDash val="solid"/>
          </a:ln>
        </p:spPr>
      </p:sp>
      <p:sp>
        <p:nvSpPr>
          <p:cNvPr id="9" name="Text 7"/>
          <p:cNvSpPr/>
          <p:nvPr/>
        </p:nvSpPr>
        <p:spPr>
          <a:xfrm>
            <a:off x="1021080" y="276352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2BFF1A"/>
          </a:solidFill>
          <a:ln/>
        </p:spPr>
        <p:txBody>
          <a:bodyPr wrap="square" lIns="0" tIns="0" rIns="0" bIns="0" rtlCol="0" anchor="t">
            <a:normAutofit/>
          </a:bodyPr>
          <a:lstStyle/>
          <a:p>
            <a:pPr marL="0" indent="0" algn="ctr">
              <a:lnSpc>
                <a:spcPts val="3200"/>
              </a:lnSpc>
              <a:buNone/>
            </a:pPr>
            <a:r>
              <a:rPr lang="en-US" sz="1600" b="1" dirty="0">
                <a:solidFill>
                  <a:srgbClr val="F2F7F4"/>
                </a:solidFill>
                <a:latin typeface="Roboto Mono" pitchFamily="34" charset="0"/>
                <a:ea typeface="Roboto Mono" pitchFamily="34" charset="-122"/>
                <a:cs typeface="Roboto Mono" pitchFamily="34" charset="-120"/>
              </a:rPr>
              <a:t>2</a:t>
            </a:r>
            <a:endParaRPr lang="en-US" sz="1600" dirty="0"/>
          </a:p>
        </p:txBody>
      </p:sp>
      <p:sp>
        <p:nvSpPr>
          <p:cNvPr id="10" name="Text 8"/>
          <p:cNvSpPr/>
          <p:nvPr/>
        </p:nvSpPr>
        <p:spPr>
          <a:xfrm>
            <a:off x="1630680" y="2844800"/>
            <a:ext cx="313944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F7F4"/>
                </a:solidFill>
                <a:latin typeface="Roboto Mono" pitchFamily="34" charset="0"/>
                <a:ea typeface="Roboto Mono" pitchFamily="34" charset="-122"/>
                <a:cs typeface="Roboto Mono" pitchFamily="34" charset="-120"/>
              </a:rPr>
              <a:t>Derive the equations</a:t>
            </a:r>
            <a:endParaRPr lang="en-US" sz="1600" dirty="0"/>
          </a:p>
        </p:txBody>
      </p:sp>
      <p:sp>
        <p:nvSpPr>
          <p:cNvPr id="11" name="Text 9"/>
          <p:cNvSpPr/>
          <p:nvPr/>
        </p:nvSpPr>
        <p:spPr>
          <a:xfrm>
            <a:off x="4881880" y="2824482"/>
            <a:ext cx="6477711"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Read Sum and Cout from the full adder truth table.</a:t>
            </a:r>
            <a:endParaRPr lang="en-US" sz="1600" dirty="0"/>
          </a:p>
        </p:txBody>
      </p:sp>
      <p:sp>
        <p:nvSpPr>
          <p:cNvPr id="12" name="Shape 10"/>
          <p:cNvSpPr/>
          <p:nvPr/>
        </p:nvSpPr>
        <p:spPr>
          <a:xfrm>
            <a:off x="815975" y="3406775"/>
            <a:ext cx="10560050" cy="664210"/>
          </a:xfrm>
          <a:prstGeom prst="roundRect">
            <a:avLst>
              <a:gd name="adj" fmla="val 14818"/>
            </a:avLst>
          </a:prstGeom>
          <a:solidFill>
            <a:srgbClr val="17262D"/>
          </a:solidFill>
          <a:ln w="6350">
            <a:solidFill>
              <a:srgbClr val="2F4A3A"/>
            </a:solidFill>
            <a:prstDash val="solid"/>
          </a:ln>
        </p:spPr>
      </p:sp>
      <p:sp>
        <p:nvSpPr>
          <p:cNvPr id="13" name="Text 11"/>
          <p:cNvSpPr/>
          <p:nvPr/>
        </p:nvSpPr>
        <p:spPr>
          <a:xfrm>
            <a:off x="1021080" y="3535682"/>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2BFF1A"/>
          </a:solidFill>
          <a:ln/>
        </p:spPr>
        <p:txBody>
          <a:bodyPr wrap="square" lIns="0" tIns="0" rIns="0" bIns="0" rtlCol="0" anchor="t">
            <a:normAutofit/>
          </a:bodyPr>
          <a:lstStyle/>
          <a:p>
            <a:pPr marL="0" indent="0" algn="ctr">
              <a:lnSpc>
                <a:spcPts val="3200"/>
              </a:lnSpc>
              <a:buNone/>
            </a:pPr>
            <a:r>
              <a:rPr lang="en-US" sz="1600" b="1" dirty="0">
                <a:solidFill>
                  <a:srgbClr val="F2F7F4"/>
                </a:solidFill>
                <a:latin typeface="Roboto Mono" pitchFamily="34" charset="0"/>
                <a:ea typeface="Roboto Mono" pitchFamily="34" charset="-122"/>
                <a:cs typeface="Roboto Mono" pitchFamily="34" charset="-120"/>
              </a:rPr>
              <a:t>3</a:t>
            </a:r>
            <a:endParaRPr lang="en-US" sz="1600" dirty="0"/>
          </a:p>
        </p:txBody>
      </p:sp>
      <p:sp>
        <p:nvSpPr>
          <p:cNvPr id="14" name="Text 12"/>
          <p:cNvSpPr/>
          <p:nvPr/>
        </p:nvSpPr>
        <p:spPr>
          <a:xfrm>
            <a:off x="1630680" y="3616961"/>
            <a:ext cx="313944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F7F4"/>
                </a:solidFill>
                <a:latin typeface="Roboto Mono" pitchFamily="34" charset="0"/>
                <a:ea typeface="Roboto Mono" pitchFamily="34" charset="-122"/>
                <a:cs typeface="Roboto Mono" pitchFamily="34" charset="-120"/>
              </a:rPr>
              <a:t>Build one full adder</a:t>
            </a:r>
            <a:endParaRPr lang="en-US" sz="1600" dirty="0"/>
          </a:p>
        </p:txBody>
      </p:sp>
      <p:sp>
        <p:nvSpPr>
          <p:cNvPr id="15" name="Text 13"/>
          <p:cNvSpPr/>
          <p:nvPr/>
        </p:nvSpPr>
        <p:spPr>
          <a:xfrm>
            <a:off x="4881880" y="3596639"/>
            <a:ext cx="6477711" cy="309880"/>
          </a:xfrm>
          <a:prstGeom prst="rect">
            <a:avLst/>
          </a:prstGeom>
          <a:noFill/>
          <a:ln/>
        </p:spPr>
        <p:txBody>
          <a:bodyPr wrap="square" lIns="0" tIns="0" rIns="0" bIns="0" rtlCol="0" anchor="t">
            <a:normAutofit fontScale="85000" lnSpcReduction="10000"/>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Two XOR, two AND and one OR gate as a Logisim sub-circuit.</a:t>
            </a:r>
            <a:endParaRPr lang="en-US" sz="1600" dirty="0"/>
          </a:p>
        </p:txBody>
      </p:sp>
      <p:sp>
        <p:nvSpPr>
          <p:cNvPr id="16" name="Shape 14"/>
          <p:cNvSpPr/>
          <p:nvPr/>
        </p:nvSpPr>
        <p:spPr>
          <a:xfrm>
            <a:off x="815975" y="4178936"/>
            <a:ext cx="10560050" cy="664210"/>
          </a:xfrm>
          <a:prstGeom prst="roundRect">
            <a:avLst>
              <a:gd name="adj" fmla="val 14818"/>
            </a:avLst>
          </a:prstGeom>
          <a:solidFill>
            <a:srgbClr val="17262D"/>
          </a:solidFill>
          <a:ln w="6350">
            <a:solidFill>
              <a:srgbClr val="2F4A3A"/>
            </a:solidFill>
            <a:prstDash val="solid"/>
          </a:ln>
        </p:spPr>
      </p:sp>
      <p:sp>
        <p:nvSpPr>
          <p:cNvPr id="17" name="Text 15"/>
          <p:cNvSpPr/>
          <p:nvPr/>
        </p:nvSpPr>
        <p:spPr>
          <a:xfrm>
            <a:off x="1021080" y="4307839"/>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2BFF1A"/>
          </a:solidFill>
          <a:ln/>
        </p:spPr>
        <p:txBody>
          <a:bodyPr wrap="square" lIns="0" tIns="0" rIns="0" bIns="0" rtlCol="0" anchor="t">
            <a:normAutofit/>
          </a:bodyPr>
          <a:lstStyle/>
          <a:p>
            <a:pPr marL="0" indent="0" algn="ctr">
              <a:lnSpc>
                <a:spcPts val="3200"/>
              </a:lnSpc>
              <a:buNone/>
            </a:pPr>
            <a:r>
              <a:rPr lang="en-US" sz="1600" b="1" dirty="0">
                <a:solidFill>
                  <a:srgbClr val="F2F7F4"/>
                </a:solidFill>
                <a:latin typeface="Roboto Mono" pitchFamily="34" charset="0"/>
                <a:ea typeface="Roboto Mono" pitchFamily="34" charset="-122"/>
                <a:cs typeface="Roboto Mono" pitchFamily="34" charset="-120"/>
              </a:rPr>
              <a:t>4</a:t>
            </a:r>
            <a:endParaRPr lang="en-US" sz="1600" dirty="0"/>
          </a:p>
        </p:txBody>
      </p:sp>
      <p:sp>
        <p:nvSpPr>
          <p:cNvPr id="18" name="Text 16"/>
          <p:cNvSpPr/>
          <p:nvPr/>
        </p:nvSpPr>
        <p:spPr>
          <a:xfrm>
            <a:off x="1630680" y="4389121"/>
            <a:ext cx="313944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F7F4"/>
                </a:solidFill>
                <a:latin typeface="Roboto Mono" pitchFamily="34" charset="0"/>
                <a:ea typeface="Roboto Mono" pitchFamily="34" charset="-122"/>
                <a:cs typeface="Roboto Mono" pitchFamily="34" charset="-120"/>
              </a:rPr>
              <a:t>Chain four copies</a:t>
            </a:r>
            <a:endParaRPr lang="en-US" sz="1600" dirty="0"/>
          </a:p>
        </p:txBody>
      </p:sp>
      <p:sp>
        <p:nvSpPr>
          <p:cNvPr id="19" name="Text 17"/>
          <p:cNvSpPr/>
          <p:nvPr/>
        </p:nvSpPr>
        <p:spPr>
          <a:xfrm>
            <a:off x="4881880" y="4368800"/>
            <a:ext cx="6477711" cy="309880"/>
          </a:xfrm>
          <a:prstGeom prst="rect">
            <a:avLst/>
          </a:prstGeom>
          <a:noFill/>
          <a:ln/>
        </p:spPr>
        <p:txBody>
          <a:bodyPr wrap="square" lIns="0" tIns="0" rIns="0" bIns="0" rtlCol="0" anchor="t">
            <a:normAutofit fontScale="85000" lnSpcReduction="10000"/>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Wire each Cout into the next Cin. Tie the first Cin to 0.</a:t>
            </a:r>
            <a:endParaRPr lang="en-US" sz="1600" dirty="0"/>
          </a:p>
        </p:txBody>
      </p:sp>
      <p:sp>
        <p:nvSpPr>
          <p:cNvPr id="20" name="Shape 18"/>
          <p:cNvSpPr/>
          <p:nvPr/>
        </p:nvSpPr>
        <p:spPr>
          <a:xfrm>
            <a:off x="815975" y="4951096"/>
            <a:ext cx="10560050" cy="664210"/>
          </a:xfrm>
          <a:prstGeom prst="roundRect">
            <a:avLst>
              <a:gd name="adj" fmla="val 14818"/>
            </a:avLst>
          </a:prstGeom>
          <a:solidFill>
            <a:srgbClr val="17262D"/>
          </a:solidFill>
          <a:ln w="6350">
            <a:solidFill>
              <a:srgbClr val="2F4A3A"/>
            </a:solidFill>
            <a:prstDash val="solid"/>
          </a:ln>
        </p:spPr>
      </p:sp>
      <p:sp>
        <p:nvSpPr>
          <p:cNvPr id="21" name="Text 19"/>
          <p:cNvSpPr/>
          <p:nvPr/>
        </p:nvSpPr>
        <p:spPr>
          <a:xfrm>
            <a:off x="1021080" y="5080000"/>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2BFF1A"/>
          </a:solidFill>
          <a:ln/>
        </p:spPr>
        <p:txBody>
          <a:bodyPr wrap="square" lIns="0" tIns="0" rIns="0" bIns="0" rtlCol="0" anchor="t">
            <a:normAutofit/>
          </a:bodyPr>
          <a:lstStyle/>
          <a:p>
            <a:pPr marL="0" indent="0" algn="ctr">
              <a:lnSpc>
                <a:spcPts val="3200"/>
              </a:lnSpc>
              <a:buNone/>
            </a:pPr>
            <a:r>
              <a:rPr lang="en-US" sz="1600" b="1" dirty="0">
                <a:solidFill>
                  <a:srgbClr val="F2F7F4"/>
                </a:solidFill>
                <a:latin typeface="Roboto Mono" pitchFamily="34" charset="0"/>
                <a:ea typeface="Roboto Mono" pitchFamily="34" charset="-122"/>
                <a:cs typeface="Roboto Mono" pitchFamily="34" charset="-120"/>
              </a:rPr>
              <a:t>5</a:t>
            </a:r>
            <a:endParaRPr lang="en-US" sz="1600" dirty="0"/>
          </a:p>
        </p:txBody>
      </p:sp>
      <p:sp>
        <p:nvSpPr>
          <p:cNvPr id="22" name="Text 20"/>
          <p:cNvSpPr/>
          <p:nvPr/>
        </p:nvSpPr>
        <p:spPr>
          <a:xfrm>
            <a:off x="1630680" y="5161282"/>
            <a:ext cx="313944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F7F4"/>
                </a:solidFill>
                <a:latin typeface="Roboto Mono" pitchFamily="34" charset="0"/>
                <a:ea typeface="Roboto Mono" pitchFamily="34" charset="-122"/>
                <a:cs typeface="Roboto Mono" pitchFamily="34" charset="-120"/>
              </a:rPr>
              <a:t>Test and time it</a:t>
            </a:r>
            <a:endParaRPr lang="en-US" sz="1600" dirty="0"/>
          </a:p>
        </p:txBody>
      </p:sp>
      <p:sp>
        <p:nvSpPr>
          <p:cNvPr id="23" name="Text 21"/>
          <p:cNvSpPr/>
          <p:nvPr/>
        </p:nvSpPr>
        <p:spPr>
          <a:xfrm>
            <a:off x="4881880" y="5140961"/>
            <a:ext cx="6477711" cy="309880"/>
          </a:xfrm>
          <a:prstGeom prst="rect">
            <a:avLst/>
          </a:prstGeom>
          <a:noFill/>
          <a:ln/>
        </p:spPr>
        <p:txBody>
          <a:bodyPr wrap="square" lIns="0" tIns="0" rIns="0" bIns="0" rtlCol="0" anchor="t">
            <a:normAutofit fontScale="85000" lnSpcReduction="10000"/>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Run input vectors, then count gate delays on the carry path.</a:t>
            </a:r>
            <a:endParaRPr lang="en-US" sz="1600" dirty="0"/>
          </a:p>
        </p:txBody>
      </p:sp>
      <p:sp>
        <p:nvSpPr>
          <p:cNvPr id="24" name="Text 22"/>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8B0"/>
                </a:solidFill>
                <a:latin typeface="Roboto Mono" pitchFamily="34" charset="0"/>
                <a:ea typeface="Roboto Mono" pitchFamily="34" charset="-122"/>
                <a:cs typeface="Roboto Mono" pitchFamily="34" charset="-120"/>
              </a:rPr>
              <a:t>4-Bit Ripple Carry Adder</a:t>
            </a:r>
            <a:endParaRPr lang="en-US" sz="1200" dirty="0"/>
          </a:p>
        </p:txBody>
      </p:sp>
      <p:sp>
        <p:nvSpPr>
          <p:cNvPr id="25" name="Text 23"/>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B8B0"/>
                </a:solidFill>
                <a:latin typeface="Roboto Mono" pitchFamily="34" charset="0"/>
                <a:ea typeface="Roboto Mono" pitchFamily="34" charset="-122"/>
                <a:cs typeface="Roboto Mono"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C2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FF1A"/>
                </a:solidFill>
                <a:latin typeface="Roboto Mono" pitchFamily="34" charset="0"/>
                <a:ea typeface="Roboto Mono" pitchFamily="34" charset="-122"/>
                <a:cs typeface="Roboto Mono" pitchFamily="34" charset="-120"/>
              </a:rPr>
              <a:t>WORKING</a:t>
            </a:r>
            <a:endParaRPr lang="en-US" sz="1200" dirty="0"/>
          </a:p>
        </p:txBody>
      </p:sp>
      <p:sp>
        <p:nvSpPr>
          <p:cNvPr id="3" name="Text 1"/>
          <p:cNvSpPr>
            <a:spLocks noGrp="1"/>
          </p:cNvSpPr>
          <p:nvPr>
            <p:ph type="title"/>
          </p:nvPr>
        </p:nvSpPr>
        <p:spPr>
          <a:xfrm>
            <a:off x="812800" y="11023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2BFF1A"/>
                </a:solidFill>
                <a:latin typeface="Rajdhani" pitchFamily="34" charset="0"/>
                <a:ea typeface="Rajdhani" pitchFamily="34" charset="-122"/>
                <a:cs typeface="Rajdhani" pitchFamily="34" charset="-120"/>
              </a:rPr>
              <a:t>Worked Example: 1011 + 0110</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69442"/>
          <a:ext cx="10556238" cy="2184400"/>
        </p:xfrm>
        <a:graphic>
          <a:graphicData uri="http://schemas.openxmlformats.org/drawingml/2006/table">
            <a:tbl>
              <a:tblPr/>
              <a:tblGrid>
                <a:gridCol w="2111248">
                  <a:extLst>
                    <a:ext uri="{9D8B030D-6E8A-4147-A177-3AD203B41FA5}">
                      <a16:colId xmlns:a16="http://schemas.microsoft.com/office/drawing/2014/main" val="20000"/>
                    </a:ext>
                  </a:extLst>
                </a:gridCol>
                <a:gridCol w="1688998">
                  <a:extLst>
                    <a:ext uri="{9D8B030D-6E8A-4147-A177-3AD203B41FA5}">
                      <a16:colId xmlns:a16="http://schemas.microsoft.com/office/drawing/2014/main" val="20001"/>
                    </a:ext>
                  </a:extLst>
                </a:gridCol>
                <a:gridCol w="1688998">
                  <a:extLst>
                    <a:ext uri="{9D8B030D-6E8A-4147-A177-3AD203B41FA5}">
                      <a16:colId xmlns:a16="http://schemas.microsoft.com/office/drawing/2014/main" val="20002"/>
                    </a:ext>
                  </a:extLst>
                </a:gridCol>
                <a:gridCol w="1688998">
                  <a:extLst>
                    <a:ext uri="{9D8B030D-6E8A-4147-A177-3AD203B41FA5}">
                      <a16:colId xmlns:a16="http://schemas.microsoft.com/office/drawing/2014/main" val="20003"/>
                    </a:ext>
                  </a:extLst>
                </a:gridCol>
                <a:gridCol w="1688998">
                  <a:extLst>
                    <a:ext uri="{9D8B030D-6E8A-4147-A177-3AD203B41FA5}">
                      <a16:colId xmlns:a16="http://schemas.microsoft.com/office/drawing/2014/main" val="20004"/>
                    </a:ext>
                  </a:extLst>
                </a:gridCol>
                <a:gridCol w="1688998">
                  <a:extLst>
                    <a:ext uri="{9D8B030D-6E8A-4147-A177-3AD203B41FA5}">
                      <a16:colId xmlns:a16="http://schemas.microsoft.com/office/drawing/2014/main" val="20005"/>
                    </a:ext>
                  </a:extLst>
                </a:gridCol>
              </a:tblGrid>
              <a:tr h="436880">
                <a:tc>
                  <a:txBody>
                    <a:bodyPr/>
                    <a:lstStyle/>
                    <a:p>
                      <a:pPr marL="0" indent="0" algn="ctr">
                        <a:lnSpc>
                          <a:spcPts val="2240"/>
                        </a:lnSpc>
                        <a:buNone/>
                      </a:pPr>
                      <a:r>
                        <a:rPr lang="en-US" sz="1600" b="1" dirty="0">
                          <a:solidFill>
                            <a:srgbClr val="121C22"/>
                          </a:solidFill>
                          <a:latin typeface="Roboto Mono" pitchFamily="49" charset="0"/>
                          <a:ea typeface="Roboto Mono" pitchFamily="49" charset="-122"/>
                          <a:cs typeface="Roboto Mono" pitchFamily="49" charset="-120"/>
                        </a:rPr>
                        <a:t>Stage</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BFF1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BFF1A"/>
                      </a:solidFill>
                      <a:prstDash val="solid"/>
                      <a:round/>
                      <a:headEnd type="none" w="med" len="med"/>
                      <a:tailEnd type="none" w="med" len="med"/>
                    </a:lnB>
                    <a:solidFill>
                      <a:srgbClr val="2BFF1A"/>
                    </a:solidFill>
                  </a:tcPr>
                </a:tc>
                <a:tc>
                  <a:txBody>
                    <a:bodyPr/>
                    <a:lstStyle/>
                    <a:p>
                      <a:pPr marL="0" indent="0" algn="ctr">
                        <a:lnSpc>
                          <a:spcPts val="2240"/>
                        </a:lnSpc>
                        <a:buNone/>
                      </a:pPr>
                      <a:r>
                        <a:rPr lang="en-US" sz="1600" b="1" dirty="0">
                          <a:solidFill>
                            <a:srgbClr val="121C22"/>
                          </a:solidFill>
                          <a:latin typeface="Roboto Mono" pitchFamily="49" charset="0"/>
                          <a:ea typeface="Roboto Mono" pitchFamily="49" charset="-122"/>
                          <a:cs typeface="Roboto Mono" pitchFamily="49" charset="-120"/>
                        </a:rPr>
                        <a:t>A</a:t>
                      </a:r>
                      <a:endParaRPr lang="en-US" sz="1600" dirty="0">
                        <a:latin typeface="Roboto Mono" charset="0"/>
                        <a:ea typeface="Roboto Mono" charset="0"/>
                        <a:cs typeface="Roboto Mono" charset="0"/>
                      </a:endParaRPr>
                    </a:p>
                  </a:txBody>
                  <a:tcPr marL="71120" marR="71120" marT="71120" marB="71120">
                    <a:lnL w="12700" cap="flat" cmpd="sng" algn="ctr">
                      <a:solidFill>
                        <a:srgbClr val="2BFF1A"/>
                      </a:solidFill>
                      <a:prstDash val="solid"/>
                      <a:round/>
                      <a:headEnd type="none" w="med" len="med"/>
                      <a:tailEnd type="none" w="med" len="med"/>
                    </a:lnL>
                    <a:lnR w="12700" cap="flat" cmpd="sng" algn="ctr">
                      <a:solidFill>
                        <a:srgbClr val="2BFF1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BFF1A"/>
                      </a:solidFill>
                      <a:prstDash val="solid"/>
                      <a:round/>
                      <a:headEnd type="none" w="med" len="med"/>
                      <a:tailEnd type="none" w="med" len="med"/>
                    </a:lnB>
                    <a:solidFill>
                      <a:srgbClr val="2BFF1A"/>
                    </a:solidFill>
                  </a:tcPr>
                </a:tc>
                <a:tc>
                  <a:txBody>
                    <a:bodyPr/>
                    <a:lstStyle/>
                    <a:p>
                      <a:pPr marL="0" indent="0" algn="ctr">
                        <a:lnSpc>
                          <a:spcPts val="2240"/>
                        </a:lnSpc>
                        <a:buNone/>
                      </a:pPr>
                      <a:r>
                        <a:rPr lang="en-US" sz="1600" b="1" dirty="0">
                          <a:solidFill>
                            <a:srgbClr val="121C22"/>
                          </a:solidFill>
                          <a:latin typeface="Roboto Mono" pitchFamily="49" charset="0"/>
                          <a:ea typeface="Roboto Mono" pitchFamily="49" charset="-122"/>
                          <a:cs typeface="Roboto Mono" pitchFamily="49" charset="-120"/>
                        </a:rPr>
                        <a:t>B</a:t>
                      </a:r>
                      <a:endParaRPr lang="en-US" sz="1600" dirty="0">
                        <a:latin typeface="Roboto Mono" charset="0"/>
                        <a:ea typeface="Roboto Mono" charset="0"/>
                        <a:cs typeface="Roboto Mono" charset="0"/>
                      </a:endParaRPr>
                    </a:p>
                  </a:txBody>
                  <a:tcPr marL="71120" marR="71120" marT="71120" marB="71120">
                    <a:lnL w="12700" cap="flat" cmpd="sng" algn="ctr">
                      <a:solidFill>
                        <a:srgbClr val="2BFF1A"/>
                      </a:solidFill>
                      <a:prstDash val="solid"/>
                      <a:round/>
                      <a:headEnd type="none" w="med" len="med"/>
                      <a:tailEnd type="none" w="med" len="med"/>
                    </a:lnL>
                    <a:lnR w="12700" cap="flat" cmpd="sng" algn="ctr">
                      <a:solidFill>
                        <a:srgbClr val="2BFF1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BFF1A"/>
                      </a:solidFill>
                      <a:prstDash val="solid"/>
                      <a:round/>
                      <a:headEnd type="none" w="med" len="med"/>
                      <a:tailEnd type="none" w="med" len="med"/>
                    </a:lnB>
                    <a:solidFill>
                      <a:srgbClr val="2BFF1A"/>
                    </a:solidFill>
                  </a:tcPr>
                </a:tc>
                <a:tc>
                  <a:txBody>
                    <a:bodyPr/>
                    <a:lstStyle/>
                    <a:p>
                      <a:pPr marL="0" indent="0" algn="ctr">
                        <a:lnSpc>
                          <a:spcPts val="2240"/>
                        </a:lnSpc>
                        <a:buNone/>
                      </a:pPr>
                      <a:r>
                        <a:rPr lang="en-US" sz="1600" b="1" dirty="0">
                          <a:solidFill>
                            <a:srgbClr val="121C22"/>
                          </a:solidFill>
                          <a:latin typeface="Roboto Mono" pitchFamily="49" charset="0"/>
                          <a:ea typeface="Roboto Mono" pitchFamily="49" charset="-122"/>
                          <a:cs typeface="Roboto Mono" pitchFamily="49" charset="-120"/>
                        </a:rPr>
                        <a:t>Cin</a:t>
                      </a:r>
                      <a:endParaRPr lang="en-US" sz="1600" dirty="0">
                        <a:latin typeface="Roboto Mono" charset="0"/>
                        <a:ea typeface="Roboto Mono" charset="0"/>
                        <a:cs typeface="Roboto Mono" charset="0"/>
                      </a:endParaRPr>
                    </a:p>
                  </a:txBody>
                  <a:tcPr marL="71120" marR="71120" marT="71120" marB="71120">
                    <a:lnL w="12700" cap="flat" cmpd="sng" algn="ctr">
                      <a:solidFill>
                        <a:srgbClr val="2BFF1A"/>
                      </a:solidFill>
                      <a:prstDash val="solid"/>
                      <a:round/>
                      <a:headEnd type="none" w="med" len="med"/>
                      <a:tailEnd type="none" w="med" len="med"/>
                    </a:lnL>
                    <a:lnR w="12700" cap="flat" cmpd="sng" algn="ctr">
                      <a:solidFill>
                        <a:srgbClr val="2BFF1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BFF1A"/>
                      </a:solidFill>
                      <a:prstDash val="solid"/>
                      <a:round/>
                      <a:headEnd type="none" w="med" len="med"/>
                      <a:tailEnd type="none" w="med" len="med"/>
                    </a:lnB>
                    <a:solidFill>
                      <a:srgbClr val="2BFF1A"/>
                    </a:solidFill>
                  </a:tcPr>
                </a:tc>
                <a:tc>
                  <a:txBody>
                    <a:bodyPr/>
                    <a:lstStyle/>
                    <a:p>
                      <a:pPr marL="0" indent="0" algn="ctr">
                        <a:lnSpc>
                          <a:spcPts val="2240"/>
                        </a:lnSpc>
                        <a:buNone/>
                      </a:pPr>
                      <a:r>
                        <a:rPr lang="en-US" sz="1600" b="1" dirty="0">
                          <a:solidFill>
                            <a:srgbClr val="121C22"/>
                          </a:solidFill>
                          <a:latin typeface="Roboto Mono" pitchFamily="49" charset="0"/>
                          <a:ea typeface="Roboto Mono" pitchFamily="49" charset="-122"/>
                          <a:cs typeface="Roboto Mono" pitchFamily="49" charset="-120"/>
                        </a:rPr>
                        <a:t>Sum</a:t>
                      </a:r>
                      <a:endParaRPr lang="en-US" sz="1600" dirty="0">
                        <a:latin typeface="Roboto Mono" charset="0"/>
                        <a:ea typeface="Roboto Mono" charset="0"/>
                        <a:cs typeface="Roboto Mono" charset="0"/>
                      </a:endParaRPr>
                    </a:p>
                  </a:txBody>
                  <a:tcPr marL="71120" marR="71120" marT="71120" marB="71120">
                    <a:lnL w="12700" cap="flat" cmpd="sng" algn="ctr">
                      <a:solidFill>
                        <a:srgbClr val="2BFF1A"/>
                      </a:solidFill>
                      <a:prstDash val="solid"/>
                      <a:round/>
                      <a:headEnd type="none" w="med" len="med"/>
                      <a:tailEnd type="none" w="med" len="med"/>
                    </a:lnL>
                    <a:lnR w="12700" cap="flat" cmpd="sng" algn="ctr">
                      <a:solidFill>
                        <a:srgbClr val="2BFF1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BFF1A"/>
                      </a:solidFill>
                      <a:prstDash val="solid"/>
                      <a:round/>
                      <a:headEnd type="none" w="med" len="med"/>
                      <a:tailEnd type="none" w="med" len="med"/>
                    </a:lnB>
                    <a:solidFill>
                      <a:srgbClr val="2BFF1A"/>
                    </a:solidFill>
                  </a:tcPr>
                </a:tc>
                <a:tc>
                  <a:txBody>
                    <a:bodyPr/>
                    <a:lstStyle/>
                    <a:p>
                      <a:pPr marL="0" indent="0" algn="ctr">
                        <a:lnSpc>
                          <a:spcPts val="2240"/>
                        </a:lnSpc>
                        <a:buNone/>
                      </a:pPr>
                      <a:r>
                        <a:rPr lang="en-US" sz="1600" b="1" dirty="0">
                          <a:solidFill>
                            <a:srgbClr val="121C22"/>
                          </a:solidFill>
                          <a:latin typeface="Roboto Mono" pitchFamily="49" charset="0"/>
                          <a:ea typeface="Roboto Mono" pitchFamily="49" charset="-122"/>
                          <a:cs typeface="Roboto Mono" pitchFamily="49" charset="-120"/>
                        </a:rPr>
                        <a:t>Cout</a:t>
                      </a:r>
                      <a:endParaRPr lang="en-US" sz="1600" dirty="0">
                        <a:latin typeface="Roboto Mono" charset="0"/>
                        <a:ea typeface="Roboto Mono" charset="0"/>
                        <a:cs typeface="Roboto Mono" charset="0"/>
                      </a:endParaRPr>
                    </a:p>
                  </a:txBody>
                  <a:tcPr marL="71120" marR="71120" marT="71120" marB="71120">
                    <a:lnL w="12700" cap="flat" cmpd="sng" algn="ctr">
                      <a:solidFill>
                        <a:srgbClr val="2BFF1A"/>
                      </a:solidFill>
                      <a:prstDash val="solid"/>
                      <a:round/>
                      <a:headEnd type="none" w="med" len="med"/>
                      <a:tailEnd type="none" w="med" len="med"/>
                    </a:lnL>
                    <a:lnR w="12700" cap="flat" cmpd="sng" algn="ctr">
                      <a:solidFill>
                        <a:srgbClr val="2BFF1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BFF1A"/>
                      </a:solidFill>
                      <a:prstDash val="solid"/>
                      <a:round/>
                      <a:headEnd type="none" w="med" len="med"/>
                      <a:tailEnd type="none" w="med" len="med"/>
                    </a:lnB>
                    <a:solidFill>
                      <a:srgbClr val="2BFF1A"/>
                    </a:solidFill>
                  </a:tcPr>
                </a:tc>
                <a:extLst>
                  <a:ext uri="{0D108BD9-81ED-4DB2-BD59-A6C34878D82A}">
                    <a16:rowId xmlns:a16="http://schemas.microsoft.com/office/drawing/2014/main" val="10000"/>
                  </a:ext>
                </a:extLst>
              </a:tr>
              <a:tr h="436880">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FA0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BFF1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BFF1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BFF1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BFF1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BFF1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F8A3D"/>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BFF1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extLst>
                  <a:ext uri="{0D108BD9-81ED-4DB2-BD59-A6C34878D82A}">
                    <a16:rowId xmlns:a16="http://schemas.microsoft.com/office/drawing/2014/main" val="10001"/>
                  </a:ext>
                </a:extLst>
              </a:tr>
              <a:tr h="436880">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FA1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F8A3D"/>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extLst>
                  <a:ext uri="{0D108BD9-81ED-4DB2-BD59-A6C34878D82A}">
                    <a16:rowId xmlns:a16="http://schemas.microsoft.com/office/drawing/2014/main" val="10002"/>
                  </a:ext>
                </a:extLst>
              </a:tr>
              <a:tr h="436880">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FA2</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F8A3D"/>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extLst>
                  <a:ext uri="{0D108BD9-81ED-4DB2-BD59-A6C34878D82A}">
                    <a16:rowId xmlns:a16="http://schemas.microsoft.com/office/drawing/2014/main" val="10003"/>
                  </a:ext>
                </a:extLst>
              </a:tr>
              <a:tr h="436880">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FA3</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F8A3D"/>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extLst>
                  <a:ext uri="{0D108BD9-81ED-4DB2-BD59-A6C34878D82A}">
                    <a16:rowId xmlns:a16="http://schemas.microsoft.com/office/drawing/2014/main" val="10004"/>
                  </a:ext>
                </a:extLst>
              </a:tr>
            </a:tbl>
          </a:graphicData>
        </a:graphic>
      </p:graphicFrame>
      <p:sp>
        <p:nvSpPr>
          <p:cNvPr id="5" name="Shape 2"/>
          <p:cNvSpPr/>
          <p:nvPr/>
        </p:nvSpPr>
        <p:spPr>
          <a:xfrm>
            <a:off x="812800" y="4307839"/>
            <a:ext cx="10566400" cy="1102360"/>
          </a:xfrm>
          <a:prstGeom prst="roundRect">
            <a:avLst>
              <a:gd name="adj" fmla="val 9217"/>
            </a:avLst>
          </a:prstGeom>
          <a:solidFill>
            <a:srgbClr val="0A1216"/>
          </a:solidFill>
          <a:ln w="15875">
            <a:solidFill>
              <a:srgbClr val="2BFF1A"/>
            </a:solidFill>
          </a:ln>
        </p:spPr>
      </p:sp>
      <p:sp>
        <p:nvSpPr>
          <p:cNvPr id="6" name="Text 3"/>
          <p:cNvSpPr/>
          <p:nvPr/>
        </p:nvSpPr>
        <p:spPr>
          <a:xfrm>
            <a:off x="1066800" y="4536439"/>
            <a:ext cx="1036015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C233"/>
                </a:solidFill>
                <a:latin typeface="Roboto Mono" pitchFamily="49" charset="0"/>
                <a:ea typeface="Roboto Mono" pitchFamily="49" charset="-122"/>
                <a:cs typeface="Roboto Mono" pitchFamily="49" charset="-120"/>
              </a:rPr>
              <a:t>C1 = 0 → C2 = 1 → C3 = 1 → C4 = 1</a:t>
            </a:r>
            <a:endParaRPr lang="en-US" sz="1600" dirty="0"/>
          </a:p>
        </p:txBody>
      </p:sp>
      <p:sp>
        <p:nvSpPr>
          <p:cNvPr id="7" name="Text 4"/>
          <p:cNvSpPr/>
          <p:nvPr/>
        </p:nvSpPr>
        <p:spPr>
          <a:xfrm>
            <a:off x="1066800" y="4897121"/>
            <a:ext cx="1036015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2F7F4"/>
                </a:solidFill>
                <a:latin typeface="Roboto Mono" pitchFamily="34" charset="0"/>
                <a:ea typeface="Roboto Mono" pitchFamily="34" charset="-122"/>
                <a:cs typeface="Roboto Mono" pitchFamily="34" charset="-120"/>
              </a:rPr>
              <a:t>S3 S2 S1 S0 = 0001 and Cout = 1, so the result is 10001 (11 + 6 = 17).</a:t>
            </a:r>
            <a:endParaRPr lang="en-US" sz="1600" dirty="0"/>
          </a:p>
        </p:txBody>
      </p:sp>
      <p:sp>
        <p:nvSpPr>
          <p:cNvPr id="8" name="Text 5"/>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8B0"/>
                </a:solidFill>
                <a:latin typeface="Roboto Mono" pitchFamily="34" charset="0"/>
                <a:ea typeface="Roboto Mono" pitchFamily="34" charset="-122"/>
                <a:cs typeface="Roboto Mono" pitchFamily="34" charset="-120"/>
              </a:rPr>
              <a:t>4-Bit Ripple Carry Adder</a:t>
            </a:r>
            <a:endParaRPr lang="en-US" sz="1200" dirty="0"/>
          </a:p>
        </p:txBody>
      </p:sp>
      <p:sp>
        <p:nvSpPr>
          <p:cNvPr id="9" name="Text 6"/>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B8B0"/>
                </a:solidFill>
                <a:latin typeface="Roboto Mono" pitchFamily="34" charset="0"/>
                <a:ea typeface="Roboto Mono" pitchFamily="34" charset="-122"/>
                <a:cs typeface="Roboto Mono"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C2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FF1A"/>
                </a:solidFill>
                <a:latin typeface="Roboto Mono" pitchFamily="34" charset="0"/>
                <a:ea typeface="Roboto Mono" pitchFamily="34" charset="-122"/>
                <a:cs typeface="Roboto Mono" pitchFamily="34" charset="-120"/>
              </a:rPr>
              <a:t>ANALYSIS</a:t>
            </a:r>
            <a:endParaRPr lang="en-US" sz="1200" dirty="0"/>
          </a:p>
        </p:txBody>
      </p:sp>
      <p:sp>
        <p:nvSpPr>
          <p:cNvPr id="3" name="Text 1"/>
          <p:cNvSpPr>
            <a:spLocks noGrp="1"/>
          </p:cNvSpPr>
          <p:nvPr>
            <p:ph type="title"/>
          </p:nvPr>
        </p:nvSpPr>
        <p:spPr>
          <a:xfrm>
            <a:off x="812800" y="11023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2BFF1A"/>
                </a:solidFill>
                <a:latin typeface="Rajdhani" pitchFamily="34" charset="0"/>
                <a:ea typeface="Rajdhani" pitchFamily="34" charset="-122"/>
                <a:cs typeface="Rajdhani" pitchFamily="34" charset="-120"/>
              </a:rPr>
              <a:t>Carry Propagation Delay</a:t>
            </a:r>
            <a:endParaRPr lang="en-US" sz="3600" dirty="0"/>
          </a:p>
        </p:txBody>
      </p:sp>
      <p:sp>
        <p:nvSpPr>
          <p:cNvPr id="4" name="Shape 2"/>
          <p:cNvSpPr/>
          <p:nvPr/>
        </p:nvSpPr>
        <p:spPr>
          <a:xfrm>
            <a:off x="812800" y="1859282"/>
            <a:ext cx="3810000" cy="2981960"/>
          </a:xfrm>
          <a:prstGeom prst="roundRect">
            <a:avLst>
              <a:gd name="adj" fmla="val 3407"/>
            </a:avLst>
          </a:prstGeom>
          <a:solidFill>
            <a:srgbClr val="0A1216"/>
          </a:solidFill>
          <a:ln w="15875">
            <a:solidFill>
              <a:srgbClr val="2BFF1A"/>
            </a:solidFill>
          </a:ln>
        </p:spPr>
      </p:sp>
      <p:sp>
        <p:nvSpPr>
          <p:cNvPr id="5" name="Text 3"/>
          <p:cNvSpPr/>
          <p:nvPr/>
        </p:nvSpPr>
        <p:spPr>
          <a:xfrm>
            <a:off x="1117600" y="2164082"/>
            <a:ext cx="3296412" cy="919480"/>
          </a:xfrm>
          <a:prstGeom prst="rect">
            <a:avLst/>
          </a:prstGeom>
          <a:noFill/>
          <a:ln/>
        </p:spPr>
        <p:txBody>
          <a:bodyPr wrap="square" lIns="0" tIns="0" rIns="0" bIns="0" rtlCol="0" anchor="t">
            <a:normAutofit/>
          </a:bodyPr>
          <a:lstStyle/>
          <a:p>
            <a:pPr marL="0" indent="0" algn="l">
              <a:lnSpc>
                <a:spcPts val="7040"/>
              </a:lnSpc>
              <a:buNone/>
            </a:pPr>
            <a:r>
              <a:rPr lang="en-US" sz="6400" b="1" dirty="0">
                <a:solidFill>
                  <a:srgbClr val="FFC233"/>
                </a:solidFill>
                <a:latin typeface="Roboto Mono" pitchFamily="49" charset="0"/>
                <a:ea typeface="Roboto Mono" pitchFamily="49" charset="-122"/>
                <a:cs typeface="Roboto Mono" pitchFamily="49" charset="-120"/>
              </a:rPr>
              <a:t>9</a:t>
            </a:r>
            <a:endParaRPr lang="en-US" sz="6400" dirty="0"/>
          </a:p>
        </p:txBody>
      </p:sp>
      <p:sp>
        <p:nvSpPr>
          <p:cNvPr id="6" name="Text 4"/>
          <p:cNvSpPr/>
          <p:nvPr/>
        </p:nvSpPr>
        <p:spPr>
          <a:xfrm>
            <a:off x="1117600" y="3159761"/>
            <a:ext cx="329641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2F7F4"/>
                </a:solidFill>
                <a:latin typeface="Roboto Mono" pitchFamily="34" charset="0"/>
                <a:ea typeface="Roboto Mono" pitchFamily="34" charset="-122"/>
                <a:cs typeface="Roboto Mono" pitchFamily="34" charset="-120"/>
              </a:rPr>
              <a:t>gate delays from inputs to Cout in the worst case</a:t>
            </a:r>
            <a:endParaRPr lang="en-US" sz="1600" dirty="0"/>
          </a:p>
        </p:txBody>
      </p:sp>
      <p:sp>
        <p:nvSpPr>
          <p:cNvPr id="7" name="Text 5"/>
          <p:cNvSpPr/>
          <p:nvPr/>
        </p:nvSpPr>
        <p:spPr>
          <a:xfrm>
            <a:off x="1117600" y="3830321"/>
            <a:ext cx="3296412"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C233"/>
                </a:solidFill>
                <a:latin typeface="Roboto Mono" pitchFamily="49" charset="0"/>
                <a:ea typeface="Roboto Mono" pitchFamily="49" charset="-122"/>
                <a:cs typeface="Roboto Mono" pitchFamily="49" charset="-120"/>
              </a:rPr>
              <a:t>T = 2n + 1</a:t>
            </a:r>
            <a:endParaRPr lang="en-US" sz="2200" dirty="0"/>
          </a:p>
        </p:txBody>
      </p:sp>
      <p:sp>
        <p:nvSpPr>
          <p:cNvPr id="8" name="Text 6"/>
          <p:cNvSpPr/>
          <p:nvPr/>
        </p:nvSpPr>
        <p:spPr>
          <a:xfrm>
            <a:off x="1117600" y="4323079"/>
            <a:ext cx="329641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D4C0"/>
                </a:solidFill>
                <a:latin typeface="Roboto Mono" pitchFamily="34" charset="0"/>
                <a:ea typeface="Roboto Mono" pitchFamily="34" charset="-122"/>
                <a:cs typeface="Roboto Mono" pitchFamily="34" charset="-120"/>
              </a:rPr>
              <a:t>n = number of bits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937760" y="1869442"/>
          <a:ext cx="6441440" cy="2184400"/>
        </p:xfrm>
        <a:graphic>
          <a:graphicData uri="http://schemas.openxmlformats.org/drawingml/2006/table">
            <a:tbl>
              <a:tblPr/>
              <a:tblGrid>
                <a:gridCol w="1932432">
                  <a:extLst>
                    <a:ext uri="{9D8B030D-6E8A-4147-A177-3AD203B41FA5}">
                      <a16:colId xmlns:a16="http://schemas.microsoft.com/office/drawing/2014/main" val="20000"/>
                    </a:ext>
                  </a:extLst>
                </a:gridCol>
                <a:gridCol w="2447747">
                  <a:extLst>
                    <a:ext uri="{9D8B030D-6E8A-4147-A177-3AD203B41FA5}">
                      <a16:colId xmlns:a16="http://schemas.microsoft.com/office/drawing/2014/main" val="20001"/>
                    </a:ext>
                  </a:extLst>
                </a:gridCol>
                <a:gridCol w="2061261">
                  <a:extLst>
                    <a:ext uri="{9D8B030D-6E8A-4147-A177-3AD203B41FA5}">
                      <a16:colId xmlns:a16="http://schemas.microsoft.com/office/drawing/2014/main" val="20002"/>
                    </a:ext>
                  </a:extLst>
                </a:gridCol>
              </a:tblGrid>
              <a:tr h="436880">
                <a:tc>
                  <a:txBody>
                    <a:bodyPr/>
                    <a:lstStyle/>
                    <a:p>
                      <a:pPr marL="0" indent="0" algn="ctr">
                        <a:lnSpc>
                          <a:spcPts val="2240"/>
                        </a:lnSpc>
                        <a:buNone/>
                      </a:pPr>
                      <a:r>
                        <a:rPr lang="en-US" sz="1600" b="1" dirty="0">
                          <a:solidFill>
                            <a:srgbClr val="121C22"/>
                          </a:solidFill>
                          <a:latin typeface="Roboto Mono" pitchFamily="49" charset="0"/>
                          <a:ea typeface="Roboto Mono" pitchFamily="49" charset="-122"/>
                          <a:cs typeface="Roboto Mono" pitchFamily="49" charset="-120"/>
                        </a:rPr>
                        <a:t>Stage</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BFF1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BFF1A"/>
                      </a:solidFill>
                      <a:prstDash val="solid"/>
                      <a:round/>
                      <a:headEnd type="none" w="med" len="med"/>
                      <a:tailEnd type="none" w="med" len="med"/>
                    </a:lnB>
                    <a:solidFill>
                      <a:srgbClr val="2BFF1A"/>
                    </a:solidFill>
                  </a:tcPr>
                </a:tc>
                <a:tc>
                  <a:txBody>
                    <a:bodyPr/>
                    <a:lstStyle/>
                    <a:p>
                      <a:pPr marL="0" indent="0" algn="ctr">
                        <a:lnSpc>
                          <a:spcPts val="2240"/>
                        </a:lnSpc>
                        <a:buNone/>
                      </a:pPr>
                      <a:r>
                        <a:rPr lang="en-US" sz="1600" b="1" dirty="0">
                          <a:solidFill>
                            <a:srgbClr val="121C22"/>
                          </a:solidFill>
                          <a:latin typeface="Roboto Mono" pitchFamily="49" charset="0"/>
                          <a:ea typeface="Roboto Mono" pitchFamily="49" charset="-122"/>
                          <a:cs typeface="Roboto Mono" pitchFamily="49" charset="-120"/>
                        </a:rPr>
                        <a:t>Carry ready</a:t>
                      </a:r>
                      <a:endParaRPr lang="en-US" sz="1600" dirty="0">
                        <a:latin typeface="Roboto Mono" charset="0"/>
                        <a:ea typeface="Roboto Mono" charset="0"/>
                        <a:cs typeface="Roboto Mono" charset="0"/>
                      </a:endParaRPr>
                    </a:p>
                  </a:txBody>
                  <a:tcPr marL="71120" marR="71120" marT="71120" marB="71120">
                    <a:lnL w="12700" cap="flat" cmpd="sng" algn="ctr">
                      <a:solidFill>
                        <a:srgbClr val="2BFF1A"/>
                      </a:solidFill>
                      <a:prstDash val="solid"/>
                      <a:round/>
                      <a:headEnd type="none" w="med" len="med"/>
                      <a:tailEnd type="none" w="med" len="med"/>
                    </a:lnL>
                    <a:lnR w="12700" cap="flat" cmpd="sng" algn="ctr">
                      <a:solidFill>
                        <a:srgbClr val="2BFF1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BFF1A"/>
                      </a:solidFill>
                      <a:prstDash val="solid"/>
                      <a:round/>
                      <a:headEnd type="none" w="med" len="med"/>
                      <a:tailEnd type="none" w="med" len="med"/>
                    </a:lnB>
                    <a:solidFill>
                      <a:srgbClr val="2BFF1A"/>
                    </a:solidFill>
                  </a:tcPr>
                </a:tc>
                <a:tc>
                  <a:txBody>
                    <a:bodyPr/>
                    <a:lstStyle/>
                    <a:p>
                      <a:pPr marL="0" indent="0" algn="ctr">
                        <a:lnSpc>
                          <a:spcPts val="2240"/>
                        </a:lnSpc>
                        <a:buNone/>
                      </a:pPr>
                      <a:r>
                        <a:rPr lang="en-US" sz="1600" b="1" dirty="0">
                          <a:solidFill>
                            <a:srgbClr val="121C22"/>
                          </a:solidFill>
                          <a:latin typeface="Roboto Mono" pitchFamily="49" charset="0"/>
                          <a:ea typeface="Roboto Mono" pitchFamily="49" charset="-122"/>
                          <a:cs typeface="Roboto Mono" pitchFamily="49" charset="-120"/>
                        </a:rPr>
                        <a:t>Sum ready</a:t>
                      </a:r>
                      <a:endParaRPr lang="en-US" sz="1600" dirty="0">
                        <a:latin typeface="Roboto Mono" charset="0"/>
                        <a:ea typeface="Roboto Mono" charset="0"/>
                        <a:cs typeface="Roboto Mono" charset="0"/>
                      </a:endParaRPr>
                    </a:p>
                  </a:txBody>
                  <a:tcPr marL="71120" marR="71120" marT="71120" marB="71120">
                    <a:lnL w="12700" cap="flat" cmpd="sng" algn="ctr">
                      <a:solidFill>
                        <a:srgbClr val="2BFF1A"/>
                      </a:solidFill>
                      <a:prstDash val="solid"/>
                      <a:round/>
                      <a:headEnd type="none" w="med" len="med"/>
                      <a:tailEnd type="none" w="med" len="med"/>
                    </a:lnL>
                    <a:lnR w="12700" cap="flat" cmpd="sng" algn="ctr">
                      <a:solidFill>
                        <a:srgbClr val="2BFF1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BFF1A"/>
                      </a:solidFill>
                      <a:prstDash val="solid"/>
                      <a:round/>
                      <a:headEnd type="none" w="med" len="med"/>
                      <a:tailEnd type="none" w="med" len="med"/>
                    </a:lnB>
                    <a:solidFill>
                      <a:srgbClr val="2BFF1A"/>
                    </a:solidFill>
                  </a:tcPr>
                </a:tc>
                <a:extLst>
                  <a:ext uri="{0D108BD9-81ED-4DB2-BD59-A6C34878D82A}">
                    <a16:rowId xmlns:a16="http://schemas.microsoft.com/office/drawing/2014/main" val="10000"/>
                  </a:ext>
                </a:extLst>
              </a:tr>
              <a:tr h="436880">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FA0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BFF1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F8A3D"/>
                          </a:solidFill>
                          <a:latin typeface="Roboto Mono" pitchFamily="49" charset="0"/>
                          <a:ea typeface="Roboto Mono" pitchFamily="49" charset="-122"/>
                          <a:cs typeface="Roboto Mono" pitchFamily="49" charset="-120"/>
                        </a:rPr>
                        <a:t>C1 at 3</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BFF1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S0 at 2</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BFF1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extLst>
                  <a:ext uri="{0D108BD9-81ED-4DB2-BD59-A6C34878D82A}">
                    <a16:rowId xmlns:a16="http://schemas.microsoft.com/office/drawing/2014/main" val="10001"/>
                  </a:ext>
                </a:extLst>
              </a:tr>
              <a:tr h="436880">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FA1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F8A3D"/>
                          </a:solidFill>
                          <a:latin typeface="Roboto Mono" pitchFamily="49" charset="0"/>
                          <a:ea typeface="Roboto Mono" pitchFamily="49" charset="-122"/>
                          <a:cs typeface="Roboto Mono" pitchFamily="49" charset="-120"/>
                        </a:rPr>
                        <a:t>C2 at 5</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S1 at 4</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extLst>
                  <a:ext uri="{0D108BD9-81ED-4DB2-BD59-A6C34878D82A}">
                    <a16:rowId xmlns:a16="http://schemas.microsoft.com/office/drawing/2014/main" val="10002"/>
                  </a:ext>
                </a:extLst>
              </a:tr>
              <a:tr h="436880">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FA2</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F8A3D"/>
                          </a:solidFill>
                          <a:latin typeface="Roboto Mono" pitchFamily="49" charset="0"/>
                          <a:ea typeface="Roboto Mono" pitchFamily="49" charset="-122"/>
                          <a:cs typeface="Roboto Mono" pitchFamily="49" charset="-120"/>
                        </a:rPr>
                        <a:t>C3 at 7</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S2 at 6</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extLst>
                  <a:ext uri="{0D108BD9-81ED-4DB2-BD59-A6C34878D82A}">
                    <a16:rowId xmlns:a16="http://schemas.microsoft.com/office/drawing/2014/main" val="10003"/>
                  </a:ext>
                </a:extLst>
              </a:tr>
              <a:tr h="436880">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FA3</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F8A3D"/>
                          </a:solidFill>
                          <a:latin typeface="Roboto Mono" pitchFamily="49" charset="0"/>
                          <a:ea typeface="Roboto Mono" pitchFamily="49" charset="-122"/>
                          <a:cs typeface="Roboto Mono" pitchFamily="49" charset="-120"/>
                        </a:rPr>
                        <a:t>C4 at 9</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gn="ctr">
                        <a:lnSpc>
                          <a:spcPts val="2240"/>
                        </a:lnSpc>
                        <a:buNone/>
                      </a:pPr>
                      <a:r>
                        <a:rPr lang="en-US" sz="1600" dirty="0">
                          <a:solidFill>
                            <a:srgbClr val="F2F7F4"/>
                          </a:solidFill>
                          <a:latin typeface="Roboto Mono" pitchFamily="49" charset="0"/>
                          <a:ea typeface="Roboto Mono" pitchFamily="49" charset="-122"/>
                          <a:cs typeface="Roboto Mono" pitchFamily="49" charset="-120"/>
                        </a:rPr>
                        <a:t>S3 at 8</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extLst>
                  <a:ext uri="{0D108BD9-81ED-4DB2-BD59-A6C34878D82A}">
                    <a16:rowId xmlns:a16="http://schemas.microsoft.com/office/drawing/2014/main" val="10004"/>
                  </a:ext>
                </a:extLst>
              </a:tr>
            </a:tbl>
          </a:graphicData>
        </a:graphic>
      </p:graphicFrame>
      <p:sp>
        <p:nvSpPr>
          <p:cNvPr id="10" name="Text 7"/>
          <p:cNvSpPr/>
          <p:nvPr/>
        </p:nvSpPr>
        <p:spPr>
          <a:xfrm>
            <a:off x="4927600" y="4206242"/>
            <a:ext cx="6645148" cy="309880"/>
          </a:xfrm>
          <a:prstGeom prst="rect">
            <a:avLst/>
          </a:prstGeom>
          <a:noFill/>
          <a:ln/>
        </p:spPr>
        <p:txBody>
          <a:bodyPr wrap="square" lIns="0" tIns="0" rIns="0" bIns="0" rtlCol="0" anchor="t">
            <a:normAutofit fontScale="77500" lnSpcReduction="20000"/>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Times are in gate delays, with A and B stable at t = 0 and Cin = 0.</a:t>
            </a:r>
            <a:endParaRPr lang="en-US" sz="1600" dirty="0"/>
          </a:p>
        </p:txBody>
      </p:sp>
      <p:sp>
        <p:nvSpPr>
          <p:cNvPr id="11" name="Text 8"/>
          <p:cNvSpPr/>
          <p:nvPr/>
        </p:nvSpPr>
        <p:spPr>
          <a:xfrm>
            <a:off x="4927600" y="4643121"/>
            <a:ext cx="6645148" cy="309880"/>
          </a:xfrm>
          <a:prstGeom prst="rect">
            <a:avLst/>
          </a:prstGeom>
          <a:noFill/>
          <a:ln/>
        </p:spPr>
        <p:txBody>
          <a:bodyPr wrap="square" lIns="0" tIns="0" rIns="0" bIns="0" rtlCol="0" anchor="t">
            <a:normAutofit fontScale="92500"/>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Each extra stage adds 2 gate delays: one AND, then one OR.</a:t>
            </a:r>
            <a:endParaRPr lang="en-US" sz="1600" dirty="0"/>
          </a:p>
        </p:txBody>
      </p:sp>
      <p:sp>
        <p:nvSpPr>
          <p:cNvPr id="12" name="Text 9"/>
          <p:cNvSpPr/>
          <p:nvPr/>
        </p:nvSpPr>
        <p:spPr>
          <a:xfrm>
            <a:off x="812800" y="6238242"/>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8B0"/>
                </a:solidFill>
                <a:latin typeface="Roboto Mono" pitchFamily="34" charset="0"/>
                <a:ea typeface="Roboto Mono" pitchFamily="34" charset="-122"/>
                <a:cs typeface="Roboto Mono" pitchFamily="34" charset="-120"/>
              </a:rPr>
              <a:t>4-Bit Ripple Carry Adder</a:t>
            </a:r>
            <a:endParaRPr lang="en-US" sz="1200" dirty="0"/>
          </a:p>
        </p:txBody>
      </p:sp>
      <p:sp>
        <p:nvSpPr>
          <p:cNvPr id="13" name="Text 10"/>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B8B0"/>
                </a:solidFill>
                <a:latin typeface="Roboto Mono" pitchFamily="34" charset="0"/>
                <a:ea typeface="Roboto Mono" pitchFamily="34" charset="-122"/>
                <a:cs typeface="Roboto Mono"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C2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FF1A"/>
                </a:solidFill>
                <a:latin typeface="Roboto Mono" pitchFamily="34" charset="0"/>
                <a:ea typeface="Roboto Mono" pitchFamily="34" charset="-122"/>
                <a:cs typeface="Roboto Mono" pitchFamily="34" charset="-120"/>
              </a:rPr>
              <a:t>ANALYSIS</a:t>
            </a:r>
            <a:endParaRPr lang="en-US" sz="1200" dirty="0"/>
          </a:p>
        </p:txBody>
      </p:sp>
      <p:sp>
        <p:nvSpPr>
          <p:cNvPr id="3" name="Text 1"/>
          <p:cNvSpPr>
            <a:spLocks noGrp="1"/>
          </p:cNvSpPr>
          <p:nvPr>
            <p:ph type="title"/>
          </p:nvPr>
        </p:nvSpPr>
        <p:spPr>
          <a:xfrm>
            <a:off x="812800" y="11023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2BFF1A"/>
                </a:solidFill>
                <a:latin typeface="Rajdhani" pitchFamily="34" charset="0"/>
                <a:ea typeface="Rajdhani" pitchFamily="34" charset="-122"/>
                <a:cs typeface="Rajdhani" pitchFamily="34" charset="-120"/>
              </a:rPr>
              <a:t>Delay Grows with Word Length</a:t>
            </a:r>
            <a:endParaRPr lang="en-US" sz="3600" dirty="0"/>
          </a:p>
        </p:txBody>
      </p:sp>
      <p:sp>
        <p:nvSpPr>
          <p:cNvPr id="4" name="Text 2"/>
          <p:cNvSpPr/>
          <p:nvPr/>
        </p:nvSpPr>
        <p:spPr>
          <a:xfrm>
            <a:off x="812800" y="1808479"/>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Worst-case delay to Cout, in gate delays (2n + 1)</a:t>
            </a:r>
            <a:endParaRPr lang="en-US" sz="1600" dirty="0"/>
          </a:p>
        </p:txBody>
      </p:sp>
      <p:sp>
        <p:nvSpPr>
          <p:cNvPr id="5" name="Text 3"/>
          <p:cNvSpPr/>
          <p:nvPr/>
        </p:nvSpPr>
        <p:spPr>
          <a:xfrm>
            <a:off x="812800" y="2306321"/>
            <a:ext cx="1320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2F7F4"/>
                </a:solidFill>
                <a:latin typeface="Roboto Mono" pitchFamily="49" charset="0"/>
                <a:ea typeface="Roboto Mono" pitchFamily="49" charset="-122"/>
                <a:cs typeface="Roboto Mono" pitchFamily="49" charset="-120"/>
              </a:rPr>
              <a:t>4-bit</a:t>
            </a:r>
            <a:endParaRPr lang="en-US" sz="1600" dirty="0"/>
          </a:p>
        </p:txBody>
      </p:sp>
      <p:sp>
        <p:nvSpPr>
          <p:cNvPr id="6" name="Shape 4"/>
          <p:cNvSpPr/>
          <p:nvPr/>
        </p:nvSpPr>
        <p:spPr>
          <a:xfrm>
            <a:off x="2235200" y="2296164"/>
            <a:ext cx="793750" cy="304800"/>
          </a:xfrm>
          <a:prstGeom prst="roundRect">
            <a:avLst>
              <a:gd name="adj" fmla="val 16667"/>
            </a:avLst>
          </a:prstGeom>
          <a:solidFill>
            <a:srgbClr val="2BFF1A"/>
          </a:solidFill>
          <a:ln/>
        </p:spPr>
      </p:sp>
      <p:sp>
        <p:nvSpPr>
          <p:cNvPr id="7" name="Text 5"/>
          <p:cNvSpPr/>
          <p:nvPr/>
        </p:nvSpPr>
        <p:spPr>
          <a:xfrm>
            <a:off x="3181350" y="2306321"/>
            <a:ext cx="17272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2F7F4"/>
                </a:solidFill>
                <a:latin typeface="Roboto Mono" pitchFamily="49" charset="0"/>
                <a:ea typeface="Roboto Mono" pitchFamily="49" charset="-122"/>
                <a:cs typeface="Roboto Mono" pitchFamily="49" charset="-120"/>
              </a:rPr>
              <a:t>9</a:t>
            </a:r>
            <a:endParaRPr lang="en-US" sz="1600" dirty="0"/>
          </a:p>
        </p:txBody>
      </p:sp>
      <p:sp>
        <p:nvSpPr>
          <p:cNvPr id="8" name="Text 6"/>
          <p:cNvSpPr/>
          <p:nvPr/>
        </p:nvSpPr>
        <p:spPr>
          <a:xfrm>
            <a:off x="812800" y="2712721"/>
            <a:ext cx="1320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2F7F4"/>
                </a:solidFill>
                <a:latin typeface="Roboto Mono" pitchFamily="49" charset="0"/>
                <a:ea typeface="Roboto Mono" pitchFamily="49" charset="-122"/>
                <a:cs typeface="Roboto Mono" pitchFamily="49" charset="-120"/>
              </a:rPr>
              <a:t>8-bit</a:t>
            </a:r>
            <a:endParaRPr lang="en-US" sz="1600" dirty="0"/>
          </a:p>
        </p:txBody>
      </p:sp>
      <p:sp>
        <p:nvSpPr>
          <p:cNvPr id="9" name="Shape 7"/>
          <p:cNvSpPr/>
          <p:nvPr/>
        </p:nvSpPr>
        <p:spPr>
          <a:xfrm>
            <a:off x="2235200" y="2702564"/>
            <a:ext cx="1492250" cy="304800"/>
          </a:xfrm>
          <a:prstGeom prst="roundRect">
            <a:avLst>
              <a:gd name="adj" fmla="val 16667"/>
            </a:avLst>
          </a:prstGeom>
          <a:solidFill>
            <a:srgbClr val="2BFF1A"/>
          </a:solidFill>
          <a:ln/>
        </p:spPr>
      </p:sp>
      <p:sp>
        <p:nvSpPr>
          <p:cNvPr id="10" name="Text 8"/>
          <p:cNvSpPr/>
          <p:nvPr/>
        </p:nvSpPr>
        <p:spPr>
          <a:xfrm>
            <a:off x="3879850" y="2712721"/>
            <a:ext cx="29464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2F7F4"/>
                </a:solidFill>
                <a:latin typeface="Roboto Mono" pitchFamily="49" charset="0"/>
                <a:ea typeface="Roboto Mono" pitchFamily="49" charset="-122"/>
                <a:cs typeface="Roboto Mono" pitchFamily="49" charset="-120"/>
              </a:rPr>
              <a:t>17</a:t>
            </a:r>
            <a:endParaRPr lang="en-US" sz="1600" dirty="0"/>
          </a:p>
        </p:txBody>
      </p:sp>
      <p:sp>
        <p:nvSpPr>
          <p:cNvPr id="11" name="Text 9"/>
          <p:cNvSpPr/>
          <p:nvPr/>
        </p:nvSpPr>
        <p:spPr>
          <a:xfrm>
            <a:off x="812800" y="3119121"/>
            <a:ext cx="1320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2F7F4"/>
                </a:solidFill>
                <a:latin typeface="Roboto Mono" pitchFamily="49" charset="0"/>
                <a:ea typeface="Roboto Mono" pitchFamily="49" charset="-122"/>
                <a:cs typeface="Roboto Mono" pitchFamily="49" charset="-120"/>
              </a:rPr>
              <a:t>16-bit</a:t>
            </a:r>
            <a:endParaRPr lang="en-US" sz="1600" dirty="0"/>
          </a:p>
        </p:txBody>
      </p:sp>
      <p:sp>
        <p:nvSpPr>
          <p:cNvPr id="12" name="Shape 10"/>
          <p:cNvSpPr/>
          <p:nvPr/>
        </p:nvSpPr>
        <p:spPr>
          <a:xfrm>
            <a:off x="2235200" y="3108964"/>
            <a:ext cx="2901950" cy="304800"/>
          </a:xfrm>
          <a:prstGeom prst="roundRect">
            <a:avLst>
              <a:gd name="adj" fmla="val 16667"/>
            </a:avLst>
          </a:prstGeom>
          <a:solidFill>
            <a:srgbClr val="2BFF1A"/>
          </a:solidFill>
          <a:ln/>
        </p:spPr>
      </p:sp>
      <p:sp>
        <p:nvSpPr>
          <p:cNvPr id="13" name="Text 11"/>
          <p:cNvSpPr/>
          <p:nvPr/>
        </p:nvSpPr>
        <p:spPr>
          <a:xfrm>
            <a:off x="5289550" y="3119121"/>
            <a:ext cx="29464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2F7F4"/>
                </a:solidFill>
                <a:latin typeface="Roboto Mono" pitchFamily="49" charset="0"/>
                <a:ea typeface="Roboto Mono" pitchFamily="49" charset="-122"/>
                <a:cs typeface="Roboto Mono" pitchFamily="49" charset="-120"/>
              </a:rPr>
              <a:t>33</a:t>
            </a:r>
            <a:endParaRPr lang="en-US" sz="1600" dirty="0"/>
          </a:p>
        </p:txBody>
      </p:sp>
      <p:sp>
        <p:nvSpPr>
          <p:cNvPr id="14" name="Text 12"/>
          <p:cNvSpPr/>
          <p:nvPr/>
        </p:nvSpPr>
        <p:spPr>
          <a:xfrm>
            <a:off x="812800" y="3525521"/>
            <a:ext cx="1320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2F7F4"/>
                </a:solidFill>
                <a:latin typeface="Roboto Mono" pitchFamily="49" charset="0"/>
                <a:ea typeface="Roboto Mono" pitchFamily="49" charset="-122"/>
                <a:cs typeface="Roboto Mono" pitchFamily="49" charset="-120"/>
              </a:rPr>
              <a:t>32-bit</a:t>
            </a:r>
            <a:endParaRPr lang="en-US" sz="1600" dirty="0"/>
          </a:p>
        </p:txBody>
      </p:sp>
      <p:sp>
        <p:nvSpPr>
          <p:cNvPr id="15" name="Shape 13"/>
          <p:cNvSpPr/>
          <p:nvPr/>
        </p:nvSpPr>
        <p:spPr>
          <a:xfrm>
            <a:off x="2235200" y="3515364"/>
            <a:ext cx="5715000" cy="304800"/>
          </a:xfrm>
          <a:prstGeom prst="roundRect">
            <a:avLst>
              <a:gd name="adj" fmla="val 16667"/>
            </a:avLst>
          </a:prstGeom>
          <a:solidFill>
            <a:srgbClr val="2BFF1A"/>
          </a:solidFill>
          <a:ln/>
        </p:spPr>
      </p:sp>
      <p:sp>
        <p:nvSpPr>
          <p:cNvPr id="16" name="Text 14"/>
          <p:cNvSpPr/>
          <p:nvPr/>
        </p:nvSpPr>
        <p:spPr>
          <a:xfrm>
            <a:off x="8102600" y="3525521"/>
            <a:ext cx="29464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2F7F4"/>
                </a:solidFill>
                <a:latin typeface="Roboto Mono" pitchFamily="49" charset="0"/>
                <a:ea typeface="Roboto Mono" pitchFamily="49" charset="-122"/>
                <a:cs typeface="Roboto Mono" pitchFamily="49" charset="-120"/>
              </a:rPr>
              <a:t>65</a:t>
            </a:r>
            <a:endParaRPr lang="en-US" sz="1600" dirty="0"/>
          </a:p>
        </p:txBody>
      </p:sp>
      <p:sp>
        <p:nvSpPr>
          <p:cNvPr id="17" name="Shape 15"/>
          <p:cNvSpPr/>
          <p:nvPr/>
        </p:nvSpPr>
        <p:spPr>
          <a:xfrm>
            <a:off x="815975" y="4026539"/>
            <a:ext cx="5175250" cy="1492250"/>
          </a:xfrm>
          <a:prstGeom prst="roundRect">
            <a:avLst>
              <a:gd name="adj" fmla="val 6596"/>
            </a:avLst>
          </a:prstGeom>
          <a:solidFill>
            <a:srgbClr val="17262D"/>
          </a:solidFill>
          <a:ln w="6350">
            <a:solidFill>
              <a:srgbClr val="2F4A3A"/>
            </a:solidFill>
            <a:prstDash val="solid"/>
          </a:ln>
        </p:spPr>
      </p:sp>
      <p:sp>
        <p:nvSpPr>
          <p:cNvPr id="18" name="Text 16"/>
          <p:cNvSpPr/>
          <p:nvPr/>
        </p:nvSpPr>
        <p:spPr>
          <a:xfrm>
            <a:off x="1071880" y="4282442"/>
            <a:ext cx="4803343"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2BFF1A"/>
                </a:solidFill>
                <a:latin typeface="Roboto Mono" pitchFamily="34" charset="0"/>
                <a:ea typeface="Roboto Mono" pitchFamily="34" charset="-122"/>
                <a:cs typeface="Roboto Mono" pitchFamily="34" charset="-120"/>
              </a:rPr>
              <a:t>Worst case</a:t>
            </a:r>
            <a:endParaRPr lang="en-US" sz="2200" dirty="0"/>
          </a:p>
        </p:txBody>
      </p:sp>
      <p:sp>
        <p:nvSpPr>
          <p:cNvPr id="19" name="Text 17"/>
          <p:cNvSpPr/>
          <p:nvPr/>
        </p:nvSpPr>
        <p:spPr>
          <a:xfrm>
            <a:off x="1071880" y="4693921"/>
            <a:ext cx="4803343"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A carry from bit 0 must ripple through every stage, as in 1111 + 0001.</a:t>
            </a:r>
            <a:endParaRPr lang="en-US" sz="1600" dirty="0"/>
          </a:p>
        </p:txBody>
      </p:sp>
      <p:sp>
        <p:nvSpPr>
          <p:cNvPr id="20" name="Shape 18"/>
          <p:cNvSpPr/>
          <p:nvPr/>
        </p:nvSpPr>
        <p:spPr>
          <a:xfrm>
            <a:off x="6200775" y="4026539"/>
            <a:ext cx="5175250" cy="1492250"/>
          </a:xfrm>
          <a:prstGeom prst="roundRect">
            <a:avLst>
              <a:gd name="adj" fmla="val 6596"/>
            </a:avLst>
          </a:prstGeom>
          <a:solidFill>
            <a:srgbClr val="17262D"/>
          </a:solidFill>
          <a:ln w="6350">
            <a:solidFill>
              <a:srgbClr val="2F4A3A"/>
            </a:solidFill>
            <a:prstDash val="solid"/>
          </a:ln>
        </p:spPr>
      </p:sp>
      <p:sp>
        <p:nvSpPr>
          <p:cNvPr id="21" name="Text 19"/>
          <p:cNvSpPr/>
          <p:nvPr/>
        </p:nvSpPr>
        <p:spPr>
          <a:xfrm>
            <a:off x="6456680" y="4282442"/>
            <a:ext cx="4803343"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2BFF1A"/>
                </a:solidFill>
                <a:latin typeface="Roboto Mono" pitchFamily="34" charset="0"/>
                <a:ea typeface="Roboto Mono" pitchFamily="34" charset="-122"/>
                <a:cs typeface="Roboto Mono" pitchFamily="34" charset="-120"/>
              </a:rPr>
              <a:t>Faster option</a:t>
            </a:r>
            <a:endParaRPr lang="en-US" sz="2200" dirty="0"/>
          </a:p>
        </p:txBody>
      </p:sp>
      <p:sp>
        <p:nvSpPr>
          <p:cNvPr id="22" name="Text 20"/>
          <p:cNvSpPr/>
          <p:nvPr/>
        </p:nvSpPr>
        <p:spPr>
          <a:xfrm>
            <a:off x="6456680" y="4693921"/>
            <a:ext cx="4803343" cy="594360"/>
          </a:xfrm>
          <a:prstGeom prst="rect">
            <a:avLst/>
          </a:prstGeom>
          <a:noFill/>
          <a:ln/>
        </p:spPr>
        <p:txBody>
          <a:bodyPr wrap="square" lIns="0" tIns="0" rIns="0" bIns="0" rtlCol="0" anchor="t">
            <a:normAutofit fontScale="92500"/>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Carry-lookahead adders compute carries in parallel, at the cost of extra gates.</a:t>
            </a:r>
            <a:endParaRPr lang="en-US" sz="1600" dirty="0"/>
          </a:p>
        </p:txBody>
      </p:sp>
      <p:sp>
        <p:nvSpPr>
          <p:cNvPr id="23" name="Text 21"/>
          <p:cNvSpPr/>
          <p:nvPr/>
        </p:nvSpPr>
        <p:spPr>
          <a:xfrm>
            <a:off x="812800" y="6238242"/>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8B0"/>
                </a:solidFill>
                <a:latin typeface="Roboto Mono" pitchFamily="34" charset="0"/>
                <a:ea typeface="Roboto Mono" pitchFamily="34" charset="-122"/>
                <a:cs typeface="Roboto Mono" pitchFamily="34" charset="-120"/>
              </a:rPr>
              <a:t>4-Bit Ripple Carry Adder</a:t>
            </a:r>
            <a:endParaRPr lang="en-US" sz="1200" dirty="0"/>
          </a:p>
        </p:txBody>
      </p:sp>
      <p:sp>
        <p:nvSpPr>
          <p:cNvPr id="24" name="Text 22"/>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B8B0"/>
                </a:solidFill>
                <a:latin typeface="Roboto Mono" pitchFamily="34" charset="0"/>
                <a:ea typeface="Roboto Mono" pitchFamily="34" charset="-122"/>
                <a:cs typeface="Roboto Mono"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C2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FF1A"/>
                </a:solidFill>
                <a:latin typeface="Roboto Mono" pitchFamily="34" charset="0"/>
                <a:ea typeface="Roboto Mono" pitchFamily="34" charset="-122"/>
                <a:cs typeface="Roboto Mono" pitchFamily="34" charset="-120"/>
              </a:rPr>
              <a:t>SECTION 3</a:t>
            </a:r>
            <a:endParaRPr lang="en-US" sz="1200" dirty="0"/>
          </a:p>
        </p:txBody>
      </p:sp>
      <p:sp>
        <p:nvSpPr>
          <p:cNvPr id="3" name="Text 1"/>
          <p:cNvSpPr>
            <a:spLocks noGrp="1"/>
          </p:cNvSpPr>
          <p:nvPr>
            <p:ph type="title"/>
          </p:nvPr>
        </p:nvSpPr>
        <p:spPr>
          <a:xfrm>
            <a:off x="812800" y="11023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2BFF1A"/>
                </a:solidFill>
                <a:latin typeface="Rajdhani" pitchFamily="34" charset="0"/>
                <a:ea typeface="Rajdhani" pitchFamily="34" charset="-122"/>
                <a:cs typeface="Rajdhani" pitchFamily="34" charset="-120"/>
              </a:rPr>
              <a:t>Demo in Logisim</a:t>
            </a:r>
            <a:endParaRPr lang="en-US" sz="3600" dirty="0"/>
          </a:p>
        </p:txBody>
      </p:sp>
      <p:sp>
        <p:nvSpPr>
          <p:cNvPr id="4" name="Text 2"/>
          <p:cNvSpPr/>
          <p:nvPr/>
        </p:nvSpPr>
        <p:spPr>
          <a:xfrm>
            <a:off x="841613" y="1859279"/>
            <a:ext cx="4934347" cy="2870200"/>
          </a:xfrm>
          <a:prstGeom prst="rect">
            <a:avLst/>
          </a:prstGeom>
          <a:noFill/>
          <a:ln/>
        </p:spPr>
        <p:txBody>
          <a:bodyPr wrap="square" lIns="0" tIns="0" rIns="0" bIns="0" rtlCol="0" anchor="t">
            <a:normAutofit fontScale="92500"/>
          </a:bodyPr>
          <a:lstStyle/>
          <a:p>
            <a:pPr marL="225187" indent="-225187" algn="l">
              <a:lnSpc>
                <a:spcPts val="2240"/>
              </a:lnSpc>
              <a:buSzPct val="100000"/>
              <a:buFontTx/>
              <a:buAutoNum type="arabicPeriod"/>
            </a:pPr>
            <a:r>
              <a:rPr lang="en-US" sz="1600" dirty="0">
                <a:solidFill>
                  <a:srgbClr val="F2F7F4"/>
                </a:solidFill>
                <a:latin typeface="Roboto Mono" pitchFamily="34" charset="0"/>
                <a:ea typeface="Roboto Mono" pitchFamily="34" charset="-122"/>
                <a:cs typeface="Roboto Mono" pitchFamily="34" charset="-120"/>
              </a:rPr>
              <a:t>Create a FullAdder sub-circuit with inputs A, B, Cin and outputs Sum, Cout.</a:t>
            </a:r>
            <a:endParaRPr lang="en-US" sz="1600" dirty="0"/>
          </a:p>
          <a:p>
            <a:pPr marL="225187" indent="-225187" algn="l">
              <a:lnSpc>
                <a:spcPts val="2240"/>
              </a:lnSpc>
              <a:buSzPct val="100000"/>
              <a:buFontTx/>
              <a:buAutoNum type="arabicPeriod"/>
            </a:pPr>
            <a:r>
              <a:rPr lang="en-US" sz="1600" dirty="0">
                <a:solidFill>
                  <a:srgbClr val="F2F7F4"/>
                </a:solidFill>
                <a:latin typeface="Roboto Mono" pitchFamily="34" charset="0"/>
                <a:ea typeface="Roboto Mono" pitchFamily="34" charset="-122"/>
                <a:cs typeface="Roboto Mono" pitchFamily="34" charset="-120"/>
              </a:rPr>
              <a:t>Wire two XOR, two AND and one OR gate as per the equations.</a:t>
            </a:r>
            <a:endParaRPr lang="en-US" sz="1600" dirty="0"/>
          </a:p>
          <a:p>
            <a:pPr marL="225187" indent="-225187" algn="l">
              <a:lnSpc>
                <a:spcPts val="2240"/>
              </a:lnSpc>
              <a:buSzPct val="100000"/>
              <a:buFontTx/>
              <a:buAutoNum type="arabicPeriod"/>
            </a:pPr>
            <a:r>
              <a:rPr lang="en-US" sz="1600" dirty="0">
                <a:solidFill>
                  <a:srgbClr val="F2F7F4"/>
                </a:solidFill>
                <a:latin typeface="Roboto Mono" pitchFamily="34" charset="0"/>
                <a:ea typeface="Roboto Mono" pitchFamily="34" charset="-122"/>
                <a:cs typeface="Roboto Mono" pitchFamily="34" charset="-120"/>
              </a:rPr>
              <a:t>In the main circuit, place four FullAdder blocks in a row.</a:t>
            </a:r>
            <a:endParaRPr lang="en-US" sz="1600" dirty="0"/>
          </a:p>
          <a:p>
            <a:pPr marL="225187" indent="-225187" algn="l">
              <a:lnSpc>
                <a:spcPts val="2240"/>
              </a:lnSpc>
              <a:buSzPct val="100000"/>
              <a:buFontTx/>
              <a:buAutoNum type="arabicPeriod"/>
            </a:pPr>
            <a:r>
              <a:rPr lang="en-US" sz="1600" dirty="0">
                <a:solidFill>
                  <a:srgbClr val="F2F7F4"/>
                </a:solidFill>
                <a:latin typeface="Roboto Mono" pitchFamily="34" charset="0"/>
                <a:ea typeface="Roboto Mono" pitchFamily="34" charset="-122"/>
                <a:cs typeface="Roboto Mono" pitchFamily="34" charset="-120"/>
              </a:rPr>
              <a:t>Wire each Cout to the next Cin. Tie the first Cin to 0.</a:t>
            </a:r>
            <a:endParaRPr lang="en-US" sz="1600" dirty="0"/>
          </a:p>
          <a:p>
            <a:pPr marL="225187" indent="-225187" algn="l">
              <a:lnSpc>
                <a:spcPts val="2240"/>
              </a:lnSpc>
              <a:buSzPct val="100000"/>
              <a:buFontTx/>
              <a:buAutoNum type="arabicPeriod"/>
            </a:pPr>
            <a:r>
              <a:rPr lang="en-US" sz="1600" dirty="0">
                <a:solidFill>
                  <a:srgbClr val="F2F7F4"/>
                </a:solidFill>
                <a:latin typeface="Roboto Mono" pitchFamily="34" charset="0"/>
                <a:ea typeface="Roboto Mono" pitchFamily="34" charset="-122"/>
                <a:cs typeface="Roboto Mono" pitchFamily="34" charset="-120"/>
              </a:rPr>
              <a:t>Add pins A, B, S and Cout, then toggle inputs with the Poke tool.</a:t>
            </a:r>
            <a:endParaRPr lang="en-US" sz="1600" dirty="0"/>
          </a:p>
        </p:txBody>
      </p:sp>
      <p:sp>
        <p:nvSpPr>
          <p:cNvPr id="5" name="Shape 3"/>
          <p:cNvSpPr/>
          <p:nvPr/>
        </p:nvSpPr>
        <p:spPr>
          <a:xfrm>
            <a:off x="5953125" y="1868804"/>
            <a:ext cx="5416550" cy="2825750"/>
          </a:xfrm>
          <a:prstGeom prst="roundRect">
            <a:avLst>
              <a:gd name="adj" fmla="val 3258"/>
            </a:avLst>
          </a:prstGeom>
          <a:noFill/>
          <a:ln w="19050">
            <a:solidFill>
              <a:srgbClr val="2BFF1A"/>
            </a:solidFill>
            <a:prstDash val="dash"/>
          </a:ln>
        </p:spPr>
      </p:sp>
      <p:sp>
        <p:nvSpPr>
          <p:cNvPr id="6" name="Text 4"/>
          <p:cNvSpPr/>
          <p:nvPr/>
        </p:nvSpPr>
        <p:spPr>
          <a:xfrm>
            <a:off x="7107880" y="2994664"/>
            <a:ext cx="3106960" cy="309880"/>
          </a:xfrm>
          <a:prstGeom prst="rect">
            <a:avLst/>
          </a:prstGeom>
          <a:noFill/>
          <a:ln/>
        </p:spPr>
        <p:txBody>
          <a:bodyPr wrap="square" lIns="0" tIns="0" rIns="0" bIns="0" rtlCol="0" anchor="t">
            <a:normAutofit fontScale="85000" lnSpcReduction="10000"/>
          </a:bodyPr>
          <a:lstStyle/>
          <a:p>
            <a:pPr marL="0" indent="0" algn="ctr">
              <a:lnSpc>
                <a:spcPts val="2240"/>
              </a:lnSpc>
              <a:buNone/>
            </a:pPr>
            <a:r>
              <a:rPr lang="en-US" sz="1600" b="1" dirty="0">
                <a:solidFill>
                  <a:srgbClr val="2BFF1A"/>
                </a:solidFill>
                <a:latin typeface="Roboto Mono" pitchFamily="34" charset="0"/>
                <a:ea typeface="Roboto Mono" pitchFamily="34" charset="-122"/>
                <a:cs typeface="Roboto Mono" pitchFamily="34" charset="-120"/>
              </a:rPr>
              <a:t>[Logisim circuit screenshot]</a:t>
            </a:r>
            <a:endParaRPr lang="en-US" sz="1600" dirty="0"/>
          </a:p>
        </p:txBody>
      </p:sp>
      <p:sp>
        <p:nvSpPr>
          <p:cNvPr id="7" name="Text 5"/>
          <p:cNvSpPr/>
          <p:nvPr/>
        </p:nvSpPr>
        <p:spPr>
          <a:xfrm>
            <a:off x="6265101" y="3355342"/>
            <a:ext cx="4792599" cy="238760"/>
          </a:xfrm>
          <a:prstGeom prst="rect">
            <a:avLst/>
          </a:prstGeom>
          <a:noFill/>
          <a:ln/>
        </p:spPr>
        <p:txBody>
          <a:bodyPr wrap="square" lIns="0" tIns="0" rIns="0" bIns="0" rtlCol="0" anchor="t">
            <a:normAutofit fontScale="85000" lnSpcReduction="10000"/>
          </a:bodyPr>
          <a:lstStyle/>
          <a:p>
            <a:pPr marL="0" indent="0" algn="ctr">
              <a:lnSpc>
                <a:spcPts val="1680"/>
              </a:lnSpc>
              <a:buNone/>
            </a:pPr>
            <a:r>
              <a:rPr lang="en-US" sz="1200" dirty="0">
                <a:solidFill>
                  <a:srgbClr val="A9B8B0"/>
                </a:solidFill>
                <a:latin typeface="Roboto Mono" pitchFamily="34" charset="0"/>
                <a:ea typeface="Roboto Mono" pitchFamily="34" charset="-122"/>
                <a:cs typeface="Roboto Mono" pitchFamily="34" charset="-120"/>
              </a:rPr>
              <a:t>Replace this box with your circuit image or demo recording</a:t>
            </a:r>
            <a:endParaRPr lang="en-US" sz="1200" dirty="0"/>
          </a:p>
        </p:txBody>
      </p:sp>
      <p:sp>
        <p:nvSpPr>
          <p:cNvPr id="8" name="Text 6"/>
          <p:cNvSpPr/>
          <p:nvPr/>
        </p:nvSpPr>
        <p:spPr>
          <a:xfrm>
            <a:off x="812800" y="6238242"/>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8B0"/>
                </a:solidFill>
                <a:latin typeface="Roboto Mono" pitchFamily="34" charset="0"/>
                <a:ea typeface="Roboto Mono" pitchFamily="34" charset="-122"/>
                <a:cs typeface="Roboto Mono" pitchFamily="34" charset="-120"/>
              </a:rPr>
              <a:t>4-Bit Ripple Carry Adder</a:t>
            </a:r>
            <a:endParaRPr lang="en-US" sz="1200" dirty="0"/>
          </a:p>
        </p:txBody>
      </p:sp>
      <p:sp>
        <p:nvSpPr>
          <p:cNvPr id="9" name="Text 7"/>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B8B0"/>
                </a:solidFill>
                <a:latin typeface="Roboto Mono" pitchFamily="34" charset="0"/>
                <a:ea typeface="Roboto Mono" pitchFamily="34" charset="-122"/>
                <a:cs typeface="Roboto Mono" pitchFamily="34" charset="-120"/>
              </a:rPr>
              <a:t>10</a:t>
            </a:r>
            <a:endParaRPr lang="en-US" sz="1200" dirty="0"/>
          </a:p>
        </p:txBody>
      </p:sp>
      <p:pic>
        <p:nvPicPr>
          <p:cNvPr id="11" name="Picture 10">
            <a:extLst>
              <a:ext uri="{FF2B5EF4-FFF2-40B4-BE49-F238E27FC236}">
                <a16:creationId xmlns:a16="http://schemas.microsoft.com/office/drawing/2014/main" id="{29DD5A83-EA47-8BC7-DA87-B6EB728AADAA}"/>
              </a:ext>
            </a:extLst>
          </p:cNvPr>
          <p:cNvPicPr>
            <a:picLocks noChangeAspect="1"/>
          </p:cNvPicPr>
          <p:nvPr/>
        </p:nvPicPr>
        <p:blipFill>
          <a:blip r:embed="rId3"/>
          <a:stretch>
            <a:fillRect/>
          </a:stretch>
        </p:blipFill>
        <p:spPr>
          <a:xfrm>
            <a:off x="5953126" y="1868804"/>
            <a:ext cx="5397262" cy="28257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C2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FF1A"/>
                </a:solidFill>
                <a:latin typeface="Roboto Mono" pitchFamily="34" charset="0"/>
                <a:ea typeface="Roboto Mono" pitchFamily="34" charset="-122"/>
                <a:cs typeface="Roboto Mono" pitchFamily="34" charset="-120"/>
              </a:rPr>
              <a:t>DEMO</a:t>
            </a:r>
            <a:endParaRPr lang="en-US" sz="1200" dirty="0"/>
          </a:p>
        </p:txBody>
      </p:sp>
      <p:sp>
        <p:nvSpPr>
          <p:cNvPr id="3" name="Text 1"/>
          <p:cNvSpPr>
            <a:spLocks noGrp="1"/>
          </p:cNvSpPr>
          <p:nvPr>
            <p:ph type="title"/>
          </p:nvPr>
        </p:nvSpPr>
        <p:spPr>
          <a:xfrm>
            <a:off x="812800" y="11023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2BFF1A"/>
                </a:solidFill>
                <a:latin typeface="Rajdhani" pitchFamily="34" charset="0"/>
                <a:ea typeface="Rajdhani" pitchFamily="34" charset="-122"/>
                <a:cs typeface="Rajdhani" pitchFamily="34" charset="-120"/>
              </a:rPr>
              <a:t>Test Cases for the Demo</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69439"/>
          <a:ext cx="10556241" cy="3058160"/>
        </p:xfrm>
        <a:graphic>
          <a:graphicData uri="http://schemas.openxmlformats.org/drawingml/2006/table">
            <a:tbl>
              <a:tblPr/>
              <a:tblGrid>
                <a:gridCol w="1794561">
                  <a:extLst>
                    <a:ext uri="{9D8B030D-6E8A-4147-A177-3AD203B41FA5}">
                      <a16:colId xmlns:a16="http://schemas.microsoft.com/office/drawing/2014/main" val="20000"/>
                    </a:ext>
                  </a:extLst>
                </a:gridCol>
                <a:gridCol w="1794561">
                  <a:extLst>
                    <a:ext uri="{9D8B030D-6E8A-4147-A177-3AD203B41FA5}">
                      <a16:colId xmlns:a16="http://schemas.microsoft.com/office/drawing/2014/main" val="20001"/>
                    </a:ext>
                  </a:extLst>
                </a:gridCol>
                <a:gridCol w="1477874">
                  <a:extLst>
                    <a:ext uri="{9D8B030D-6E8A-4147-A177-3AD203B41FA5}">
                      <a16:colId xmlns:a16="http://schemas.microsoft.com/office/drawing/2014/main" val="20002"/>
                    </a:ext>
                  </a:extLst>
                </a:gridCol>
                <a:gridCol w="1055624">
                  <a:extLst>
                    <a:ext uri="{9D8B030D-6E8A-4147-A177-3AD203B41FA5}">
                      <a16:colId xmlns:a16="http://schemas.microsoft.com/office/drawing/2014/main" val="20003"/>
                    </a:ext>
                  </a:extLst>
                </a:gridCol>
                <a:gridCol w="4433621">
                  <a:extLst>
                    <a:ext uri="{9D8B030D-6E8A-4147-A177-3AD203B41FA5}">
                      <a16:colId xmlns:a16="http://schemas.microsoft.com/office/drawing/2014/main" val="20004"/>
                    </a:ext>
                  </a:extLst>
                </a:gridCol>
              </a:tblGrid>
              <a:tr h="436880">
                <a:tc>
                  <a:txBody>
                    <a:bodyPr/>
                    <a:lstStyle/>
                    <a:p>
                      <a:pPr marL="0" indent="0">
                        <a:lnSpc>
                          <a:spcPts val="2240"/>
                        </a:lnSpc>
                        <a:buNone/>
                      </a:pPr>
                      <a:r>
                        <a:rPr lang="en-US" sz="1600" b="1" dirty="0">
                          <a:solidFill>
                            <a:srgbClr val="121C22"/>
                          </a:solidFill>
                          <a:latin typeface="Roboto Mono" pitchFamily="49" charset="0"/>
                          <a:ea typeface="Roboto Mono" pitchFamily="49" charset="-122"/>
                          <a:cs typeface="Roboto Mono" pitchFamily="49" charset="-120"/>
                        </a:rPr>
                        <a:t>A</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BFF1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BFF1A"/>
                      </a:solidFill>
                      <a:prstDash val="solid"/>
                      <a:round/>
                      <a:headEnd type="none" w="med" len="med"/>
                      <a:tailEnd type="none" w="med" len="med"/>
                    </a:lnB>
                    <a:solidFill>
                      <a:srgbClr val="2BFF1A"/>
                    </a:solidFill>
                  </a:tcPr>
                </a:tc>
                <a:tc>
                  <a:txBody>
                    <a:bodyPr/>
                    <a:lstStyle/>
                    <a:p>
                      <a:pPr marL="0" indent="0">
                        <a:lnSpc>
                          <a:spcPts val="2240"/>
                        </a:lnSpc>
                        <a:buNone/>
                      </a:pPr>
                      <a:r>
                        <a:rPr lang="en-US" sz="1600" b="1" dirty="0">
                          <a:solidFill>
                            <a:srgbClr val="121C22"/>
                          </a:solidFill>
                          <a:latin typeface="Roboto Mono" pitchFamily="49" charset="0"/>
                          <a:ea typeface="Roboto Mono" pitchFamily="49" charset="-122"/>
                          <a:cs typeface="Roboto Mono" pitchFamily="49" charset="-120"/>
                        </a:rPr>
                        <a:t>B</a:t>
                      </a:r>
                      <a:endParaRPr lang="en-US" sz="1600" dirty="0">
                        <a:latin typeface="Roboto Mono" charset="0"/>
                        <a:ea typeface="Roboto Mono" charset="0"/>
                        <a:cs typeface="Roboto Mono" charset="0"/>
                      </a:endParaRPr>
                    </a:p>
                  </a:txBody>
                  <a:tcPr marL="71120" marR="71120" marT="71120" marB="71120">
                    <a:lnL w="12700" cap="flat" cmpd="sng" algn="ctr">
                      <a:solidFill>
                        <a:srgbClr val="2BFF1A"/>
                      </a:solidFill>
                      <a:prstDash val="solid"/>
                      <a:round/>
                      <a:headEnd type="none" w="med" len="med"/>
                      <a:tailEnd type="none" w="med" len="med"/>
                    </a:lnL>
                    <a:lnR w="12700" cap="flat" cmpd="sng" algn="ctr">
                      <a:solidFill>
                        <a:srgbClr val="2BFF1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BFF1A"/>
                      </a:solidFill>
                      <a:prstDash val="solid"/>
                      <a:round/>
                      <a:headEnd type="none" w="med" len="med"/>
                      <a:tailEnd type="none" w="med" len="med"/>
                    </a:lnB>
                    <a:solidFill>
                      <a:srgbClr val="2BFF1A"/>
                    </a:solidFill>
                  </a:tcPr>
                </a:tc>
                <a:tc>
                  <a:txBody>
                    <a:bodyPr/>
                    <a:lstStyle/>
                    <a:p>
                      <a:pPr marL="0" indent="0">
                        <a:lnSpc>
                          <a:spcPts val="2240"/>
                        </a:lnSpc>
                        <a:buNone/>
                      </a:pPr>
                      <a:r>
                        <a:rPr lang="en-US" sz="1600" b="1" dirty="0">
                          <a:solidFill>
                            <a:srgbClr val="121C22"/>
                          </a:solidFill>
                          <a:latin typeface="Roboto Mono" pitchFamily="49" charset="0"/>
                          <a:ea typeface="Roboto Mono" pitchFamily="49" charset="-122"/>
                          <a:cs typeface="Roboto Mono" pitchFamily="49" charset="-120"/>
                        </a:rPr>
                        <a:t>Sum</a:t>
                      </a:r>
                      <a:endParaRPr lang="en-US" sz="1600" dirty="0">
                        <a:latin typeface="Roboto Mono" charset="0"/>
                        <a:ea typeface="Roboto Mono" charset="0"/>
                        <a:cs typeface="Roboto Mono" charset="0"/>
                      </a:endParaRPr>
                    </a:p>
                  </a:txBody>
                  <a:tcPr marL="71120" marR="71120" marT="71120" marB="71120">
                    <a:lnL w="12700" cap="flat" cmpd="sng" algn="ctr">
                      <a:solidFill>
                        <a:srgbClr val="2BFF1A"/>
                      </a:solidFill>
                      <a:prstDash val="solid"/>
                      <a:round/>
                      <a:headEnd type="none" w="med" len="med"/>
                      <a:tailEnd type="none" w="med" len="med"/>
                    </a:lnL>
                    <a:lnR w="12700" cap="flat" cmpd="sng" algn="ctr">
                      <a:solidFill>
                        <a:srgbClr val="2BFF1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BFF1A"/>
                      </a:solidFill>
                      <a:prstDash val="solid"/>
                      <a:round/>
                      <a:headEnd type="none" w="med" len="med"/>
                      <a:tailEnd type="none" w="med" len="med"/>
                    </a:lnB>
                    <a:solidFill>
                      <a:srgbClr val="2BFF1A"/>
                    </a:solidFill>
                  </a:tcPr>
                </a:tc>
                <a:tc>
                  <a:txBody>
                    <a:bodyPr/>
                    <a:lstStyle/>
                    <a:p>
                      <a:pPr marL="0" indent="0">
                        <a:lnSpc>
                          <a:spcPts val="2240"/>
                        </a:lnSpc>
                        <a:buNone/>
                      </a:pPr>
                      <a:r>
                        <a:rPr lang="en-US" sz="1600" b="1" dirty="0">
                          <a:solidFill>
                            <a:srgbClr val="121C22"/>
                          </a:solidFill>
                          <a:latin typeface="Roboto Mono" pitchFamily="49" charset="0"/>
                          <a:ea typeface="Roboto Mono" pitchFamily="49" charset="-122"/>
                          <a:cs typeface="Roboto Mono" pitchFamily="49" charset="-120"/>
                        </a:rPr>
                        <a:t>Cout</a:t>
                      </a:r>
                      <a:endParaRPr lang="en-US" sz="1600" dirty="0">
                        <a:latin typeface="Roboto Mono" charset="0"/>
                        <a:ea typeface="Roboto Mono" charset="0"/>
                        <a:cs typeface="Roboto Mono" charset="0"/>
                      </a:endParaRPr>
                    </a:p>
                  </a:txBody>
                  <a:tcPr marL="71120" marR="71120" marT="71120" marB="71120">
                    <a:lnL w="12700" cap="flat" cmpd="sng" algn="ctr">
                      <a:solidFill>
                        <a:srgbClr val="2BFF1A"/>
                      </a:solidFill>
                      <a:prstDash val="solid"/>
                      <a:round/>
                      <a:headEnd type="none" w="med" len="med"/>
                      <a:tailEnd type="none" w="med" len="med"/>
                    </a:lnL>
                    <a:lnR w="12700" cap="flat" cmpd="sng" algn="ctr">
                      <a:solidFill>
                        <a:srgbClr val="2BFF1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BFF1A"/>
                      </a:solidFill>
                      <a:prstDash val="solid"/>
                      <a:round/>
                      <a:headEnd type="none" w="med" len="med"/>
                      <a:tailEnd type="none" w="med" len="med"/>
                    </a:lnB>
                    <a:solidFill>
                      <a:srgbClr val="2BFF1A"/>
                    </a:solidFill>
                  </a:tcPr>
                </a:tc>
                <a:tc>
                  <a:txBody>
                    <a:bodyPr/>
                    <a:lstStyle/>
                    <a:p>
                      <a:pPr marL="0" indent="0">
                        <a:lnSpc>
                          <a:spcPts val="2240"/>
                        </a:lnSpc>
                        <a:buNone/>
                      </a:pPr>
                      <a:r>
                        <a:rPr lang="en-US" sz="1600" b="1" dirty="0">
                          <a:solidFill>
                            <a:srgbClr val="121C22"/>
                          </a:solidFill>
                          <a:latin typeface="Roboto Mono" pitchFamily="49" charset="0"/>
                          <a:ea typeface="Roboto Mono" pitchFamily="49" charset="-122"/>
                          <a:cs typeface="Roboto Mono" pitchFamily="49" charset="-120"/>
                        </a:rPr>
                        <a:t>What to watch</a:t>
                      </a:r>
                      <a:endParaRPr lang="en-US" sz="1600" dirty="0">
                        <a:latin typeface="Roboto Mono" charset="0"/>
                        <a:ea typeface="Roboto Mono" charset="0"/>
                        <a:cs typeface="Roboto Mono" charset="0"/>
                      </a:endParaRPr>
                    </a:p>
                  </a:txBody>
                  <a:tcPr marL="71120" marR="71120" marT="71120" marB="71120">
                    <a:lnL w="12700" cap="flat" cmpd="sng" algn="ctr">
                      <a:solidFill>
                        <a:srgbClr val="2BFF1A"/>
                      </a:solidFill>
                      <a:prstDash val="solid"/>
                      <a:round/>
                      <a:headEnd type="none" w="med" len="med"/>
                      <a:tailEnd type="none" w="med" len="med"/>
                    </a:lnL>
                    <a:lnR w="12700" cap="flat" cmpd="sng" algn="ctr">
                      <a:solidFill>
                        <a:srgbClr val="2BFF1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BFF1A"/>
                      </a:solidFill>
                      <a:prstDash val="solid"/>
                      <a:round/>
                      <a:headEnd type="none" w="med" len="med"/>
                      <a:tailEnd type="none" w="med" len="med"/>
                    </a:lnB>
                    <a:solidFill>
                      <a:srgbClr val="2BFF1A"/>
                    </a:solidFill>
                  </a:tcPr>
                </a:tc>
                <a:extLst>
                  <a:ext uri="{0D108BD9-81ED-4DB2-BD59-A6C34878D82A}">
                    <a16:rowId xmlns:a16="http://schemas.microsoft.com/office/drawing/2014/main" val="10000"/>
                  </a:ext>
                </a:extLst>
              </a:tr>
              <a:tr h="436880">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0000 (0)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BFF1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0000 (0)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BFF1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0000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BFF1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BFF1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all zeros</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BFF1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extLst>
                  <a:ext uri="{0D108BD9-81ED-4DB2-BD59-A6C34878D82A}">
                    <a16:rowId xmlns:a16="http://schemas.microsoft.com/office/drawing/2014/main" val="10001"/>
                  </a:ext>
                </a:extLst>
              </a:tr>
              <a:tr h="436880">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0001 (1)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0001 (1)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0010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single carry</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extLst>
                  <a:ext uri="{0D108BD9-81ED-4DB2-BD59-A6C34878D82A}">
                    <a16:rowId xmlns:a16="http://schemas.microsoft.com/office/drawing/2014/main" val="10002"/>
                  </a:ext>
                </a:extLst>
              </a:tr>
              <a:tr h="436880">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0111 (7)</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0001 (1)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1000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carry reaches bit 3</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extLst>
                  <a:ext uri="{0D108BD9-81ED-4DB2-BD59-A6C34878D82A}">
                    <a16:rowId xmlns:a16="http://schemas.microsoft.com/office/drawing/2014/main" val="10003"/>
                  </a:ext>
                </a:extLst>
              </a:tr>
              <a:tr h="436880">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1011 (11)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0110 (6)</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0001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worked example</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extLst>
                  <a:ext uri="{0D108BD9-81ED-4DB2-BD59-A6C34878D82A}">
                    <a16:rowId xmlns:a16="http://schemas.microsoft.com/office/drawing/2014/main" val="10004"/>
                  </a:ext>
                </a:extLst>
              </a:tr>
              <a:tr h="436880">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1111 (15)</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0001 (1)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0000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worst-case ripple</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7262D"/>
                    </a:solidFill>
                  </a:tcPr>
                </a:tc>
                <a:extLst>
                  <a:ext uri="{0D108BD9-81ED-4DB2-BD59-A6C34878D82A}">
                    <a16:rowId xmlns:a16="http://schemas.microsoft.com/office/drawing/2014/main" val="10005"/>
                  </a:ext>
                </a:extLst>
              </a:tr>
              <a:tr h="436880">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1111 (15)</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1111 (15)</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1110</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1</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tc>
                  <a:txBody>
                    <a:bodyPr/>
                    <a:lstStyle/>
                    <a:p>
                      <a:pPr marL="0" indent="0">
                        <a:lnSpc>
                          <a:spcPts val="2240"/>
                        </a:lnSpc>
                        <a:buNone/>
                      </a:pPr>
                      <a:r>
                        <a:rPr lang="en-US" sz="1600" dirty="0">
                          <a:solidFill>
                            <a:srgbClr val="F2F7F4"/>
                          </a:solidFill>
                          <a:latin typeface="Roboto Mono" pitchFamily="49" charset="0"/>
                          <a:ea typeface="Roboto Mono" pitchFamily="49" charset="-122"/>
                          <a:cs typeface="Roboto Mono" pitchFamily="49" charset="-120"/>
                        </a:rPr>
                        <a:t>maximum sum</a:t>
                      </a:r>
                      <a:endParaRPr lang="en-US" sz="1600" dirty="0">
                        <a:latin typeface="Roboto Mono" charset="0"/>
                        <a:ea typeface="Roboto Mono" charset="0"/>
                        <a:cs typeface="Roboto Mono" charset="0"/>
                      </a:endParaRPr>
                    </a:p>
                  </a:txBody>
                  <a:tcPr marL="71120" marR="71120" marT="71120" marB="71120">
                    <a:lnL w="12700" cap="flat" cmpd="sng" algn="ctr">
                      <a:solidFill>
                        <a:srgbClr val="2F4A3A"/>
                      </a:solidFill>
                      <a:prstDash val="solid"/>
                      <a:round/>
                      <a:headEnd type="none" w="med" len="med"/>
                      <a:tailEnd type="none" w="med" len="med"/>
                    </a:lnL>
                    <a:lnR w="12700" cap="flat" cmpd="sng" algn="ctr">
                      <a:solidFill>
                        <a:srgbClr val="2F4A3A"/>
                      </a:solidFill>
                      <a:prstDash val="solid"/>
                      <a:round/>
                      <a:headEnd type="none" w="med" len="med"/>
                      <a:tailEnd type="none" w="med" len="med"/>
                    </a:lnR>
                    <a:lnT w="12700" cap="flat" cmpd="sng" algn="ctr">
                      <a:solidFill>
                        <a:srgbClr val="2F4A3A"/>
                      </a:solidFill>
                      <a:prstDash val="solid"/>
                      <a:round/>
                      <a:headEnd type="none" w="med" len="med"/>
                      <a:tailEnd type="none" w="med" len="med"/>
                    </a:lnT>
                    <a:lnB w="12700" cap="flat" cmpd="sng" algn="ctr">
                      <a:solidFill>
                        <a:srgbClr val="2F4A3A"/>
                      </a:solidFill>
                      <a:prstDash val="solid"/>
                      <a:round/>
                      <a:headEnd type="none" w="med" len="med"/>
                      <a:tailEnd type="none" w="med" len="med"/>
                    </a:lnB>
                    <a:solidFill>
                      <a:srgbClr val="1C2D35"/>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51816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All tests use Cin = 0. Cout = 1 means the result needs a fifth bit.</a:t>
            </a:r>
            <a:endParaRPr lang="en-US" sz="1600" dirty="0"/>
          </a:p>
        </p:txBody>
      </p:sp>
      <p:sp>
        <p:nvSpPr>
          <p:cNvPr id="6" name="Text 3"/>
          <p:cNvSpPr/>
          <p:nvPr/>
        </p:nvSpPr>
        <p:spPr>
          <a:xfrm>
            <a:off x="812800" y="6238242"/>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8B0"/>
                </a:solidFill>
                <a:latin typeface="Roboto Mono" pitchFamily="34" charset="0"/>
                <a:ea typeface="Roboto Mono" pitchFamily="34" charset="-122"/>
                <a:cs typeface="Roboto Mono" pitchFamily="34" charset="-120"/>
              </a:rPr>
              <a:t>4-Bit Ripple Carry Adder</a:t>
            </a:r>
            <a:endParaRPr lang="en-US" sz="1200" dirty="0"/>
          </a:p>
        </p:txBody>
      </p:sp>
      <p:sp>
        <p:nvSpPr>
          <p:cNvPr id="7" name="Text 4"/>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B8B0"/>
                </a:solidFill>
                <a:latin typeface="Roboto Mono" pitchFamily="34" charset="0"/>
                <a:ea typeface="Roboto Mono" pitchFamily="34" charset="-122"/>
                <a:cs typeface="Roboto Mon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C2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C233"/>
                </a:solidFill>
                <a:latin typeface="Roboto Mono" pitchFamily="34" charset="0"/>
                <a:ea typeface="Roboto Mono" pitchFamily="34" charset="-122"/>
                <a:cs typeface="Roboto Mono" pitchFamily="34" charset="-120"/>
              </a:rPr>
              <a:t>SUMMARY</a:t>
            </a:r>
            <a:endParaRPr lang="en-US" sz="1200" dirty="0"/>
          </a:p>
        </p:txBody>
      </p:sp>
      <p:sp>
        <p:nvSpPr>
          <p:cNvPr id="3" name="Text 1"/>
          <p:cNvSpPr>
            <a:spLocks noGrp="1"/>
          </p:cNvSpPr>
          <p:nvPr>
            <p:ph type="title"/>
          </p:nvPr>
        </p:nvSpPr>
        <p:spPr>
          <a:xfrm>
            <a:off x="812800" y="11023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2BFF1A"/>
                </a:solidFill>
                <a:latin typeface="Rajdhani" pitchFamily="34" charset="0"/>
                <a:ea typeface="Rajdhani" pitchFamily="34" charset="-122"/>
                <a:cs typeface="Rajdhani" pitchFamily="34" charset="-120"/>
              </a:rPr>
              <a:t>Conclusion</a:t>
            </a:r>
            <a:endParaRPr lang="en-US" sz="3600" dirty="0"/>
          </a:p>
        </p:txBody>
      </p:sp>
      <p:sp>
        <p:nvSpPr>
          <p:cNvPr id="4" name="Text 2"/>
          <p:cNvSpPr/>
          <p:nvPr/>
        </p:nvSpPr>
        <p:spPr>
          <a:xfrm>
            <a:off x="812800" y="1910079"/>
            <a:ext cx="10883392" cy="388620"/>
          </a:xfrm>
          <a:prstGeom prst="rect">
            <a:avLst/>
          </a:prstGeom>
          <a:noFill/>
          <a:ln/>
        </p:spPr>
        <p:txBody>
          <a:bodyPr wrap="square" lIns="0" tIns="0" rIns="0" bIns="0" rtlCol="0" anchor="t">
            <a:normAutofit fontScale="85000" lnSpcReduction="10000"/>
          </a:bodyPr>
          <a:lstStyle/>
          <a:p>
            <a:pPr marL="0" indent="0" algn="l">
              <a:lnSpc>
                <a:spcPts val="2860"/>
              </a:lnSpc>
              <a:buNone/>
            </a:pPr>
            <a:r>
              <a:rPr lang="en-US" sz="2200" dirty="0">
                <a:solidFill>
                  <a:srgbClr val="B8D4C0"/>
                </a:solidFill>
                <a:latin typeface="Roboto Mono" pitchFamily="34" charset="0"/>
                <a:ea typeface="Roboto Mono" pitchFamily="34" charset="-122"/>
                <a:cs typeface="Roboto Mono" pitchFamily="34" charset="-120"/>
              </a:rPr>
              <a:t>A 4-bit ripple carry adder is easy to build. Its limit is the carry chain.</a:t>
            </a:r>
            <a:endParaRPr lang="en-US" sz="2200" dirty="0"/>
          </a:p>
        </p:txBody>
      </p:sp>
      <p:sp>
        <p:nvSpPr>
          <p:cNvPr id="5" name="Shape 3"/>
          <p:cNvSpPr/>
          <p:nvPr/>
        </p:nvSpPr>
        <p:spPr>
          <a:xfrm>
            <a:off x="815975" y="2581275"/>
            <a:ext cx="3380264" cy="1776730"/>
          </a:xfrm>
          <a:prstGeom prst="roundRect">
            <a:avLst>
              <a:gd name="adj" fmla="val 5540"/>
            </a:avLst>
          </a:prstGeom>
          <a:solidFill>
            <a:srgbClr val="1C2D35"/>
          </a:solidFill>
          <a:ln w="6350">
            <a:solidFill>
              <a:srgbClr val="2BFF1A"/>
            </a:solidFill>
            <a:prstDash val="solid"/>
          </a:ln>
        </p:spPr>
      </p:sp>
      <p:sp>
        <p:nvSpPr>
          <p:cNvPr id="6" name="Text 4"/>
          <p:cNvSpPr/>
          <p:nvPr/>
        </p:nvSpPr>
        <p:spPr>
          <a:xfrm>
            <a:off x="1071880" y="2837179"/>
            <a:ext cx="2954507"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FC233"/>
                </a:solidFill>
                <a:latin typeface="Roboto Mono" pitchFamily="34" charset="0"/>
                <a:ea typeface="Roboto Mono" pitchFamily="34" charset="-122"/>
                <a:cs typeface="Roboto Mono" pitchFamily="34" charset="-120"/>
              </a:rPr>
              <a:t>Simple</a:t>
            </a:r>
            <a:endParaRPr lang="en-US" sz="2200" dirty="0"/>
          </a:p>
        </p:txBody>
      </p:sp>
      <p:sp>
        <p:nvSpPr>
          <p:cNvPr id="7" name="Text 5"/>
          <p:cNvSpPr/>
          <p:nvPr/>
        </p:nvSpPr>
        <p:spPr>
          <a:xfrm>
            <a:off x="1071880" y="3248664"/>
            <a:ext cx="2954507" cy="594360"/>
          </a:xfrm>
          <a:prstGeom prst="rect">
            <a:avLst/>
          </a:prstGeom>
          <a:noFill/>
          <a:ln/>
        </p:spPr>
        <p:txBody>
          <a:bodyPr wrap="square" lIns="0" tIns="0" rIns="0" bIns="0" rtlCol="0" anchor="t">
            <a:normAutofit fontScale="85000" lnSpcReduction="10000"/>
          </a:bodyPr>
          <a:lstStyle/>
          <a:p>
            <a:pPr marL="0" indent="0" algn="l">
              <a:lnSpc>
                <a:spcPts val="2240"/>
              </a:lnSpc>
              <a:buNone/>
            </a:pPr>
            <a:r>
              <a:rPr lang="en-US" sz="1600" dirty="0">
                <a:solidFill>
                  <a:srgbClr val="F2F7F4"/>
                </a:solidFill>
                <a:latin typeface="Roboto Mono" pitchFamily="34" charset="0"/>
                <a:ea typeface="Roboto Mono" pitchFamily="34" charset="-122"/>
                <a:cs typeface="Roboto Mono" pitchFamily="34" charset="-120"/>
              </a:rPr>
              <a:t>Four full adders of 5 gates each, so 20 gates in total.</a:t>
            </a:r>
            <a:endParaRPr lang="en-US" sz="1600" dirty="0"/>
          </a:p>
        </p:txBody>
      </p:sp>
      <p:sp>
        <p:nvSpPr>
          <p:cNvPr id="8" name="Shape 6"/>
          <p:cNvSpPr/>
          <p:nvPr/>
        </p:nvSpPr>
        <p:spPr>
          <a:xfrm>
            <a:off x="4405789" y="2581275"/>
            <a:ext cx="3380343" cy="1776730"/>
          </a:xfrm>
          <a:prstGeom prst="roundRect">
            <a:avLst>
              <a:gd name="adj" fmla="val 5540"/>
            </a:avLst>
          </a:prstGeom>
          <a:solidFill>
            <a:srgbClr val="1C2D35"/>
          </a:solidFill>
          <a:ln w="6350">
            <a:solidFill>
              <a:srgbClr val="2BFF1A"/>
            </a:solidFill>
            <a:prstDash val="solid"/>
          </a:ln>
        </p:spPr>
      </p:sp>
      <p:sp>
        <p:nvSpPr>
          <p:cNvPr id="9" name="Text 7"/>
          <p:cNvSpPr/>
          <p:nvPr/>
        </p:nvSpPr>
        <p:spPr>
          <a:xfrm>
            <a:off x="4661694" y="2837179"/>
            <a:ext cx="295458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FC233"/>
                </a:solidFill>
                <a:latin typeface="Roboto Mono" pitchFamily="34" charset="0"/>
                <a:ea typeface="Roboto Mono" pitchFamily="34" charset="-122"/>
                <a:cs typeface="Roboto Mono" pitchFamily="34" charset="-120"/>
              </a:rPr>
              <a:t>Slow carry</a:t>
            </a:r>
            <a:endParaRPr lang="en-US" sz="2200" dirty="0"/>
          </a:p>
        </p:txBody>
      </p:sp>
      <p:sp>
        <p:nvSpPr>
          <p:cNvPr id="10" name="Text 8"/>
          <p:cNvSpPr/>
          <p:nvPr/>
        </p:nvSpPr>
        <p:spPr>
          <a:xfrm>
            <a:off x="4661694" y="3248664"/>
            <a:ext cx="2954589" cy="878840"/>
          </a:xfrm>
          <a:prstGeom prst="rect">
            <a:avLst/>
          </a:prstGeom>
          <a:noFill/>
          <a:ln/>
        </p:spPr>
        <p:txBody>
          <a:bodyPr wrap="square" lIns="0" tIns="0" rIns="0" bIns="0" rtlCol="0" anchor="t">
            <a:normAutofit fontScale="85000" lnSpcReduction="10000"/>
          </a:bodyPr>
          <a:lstStyle/>
          <a:p>
            <a:pPr marL="0" indent="0" algn="l">
              <a:lnSpc>
                <a:spcPts val="2240"/>
              </a:lnSpc>
              <a:buNone/>
            </a:pPr>
            <a:r>
              <a:rPr lang="en-US" sz="1600" dirty="0">
                <a:solidFill>
                  <a:srgbClr val="F2F7F4"/>
                </a:solidFill>
                <a:latin typeface="Roboto Mono" pitchFamily="34" charset="0"/>
                <a:ea typeface="Roboto Mono" pitchFamily="34" charset="-122"/>
                <a:cs typeface="Roboto Mono" pitchFamily="34" charset="-120"/>
              </a:rPr>
              <a:t>The carry ripples stage by stage: 9 gate delays for 4 bits, 2n + 1 in general.</a:t>
            </a:r>
            <a:endParaRPr lang="en-US" sz="1600" dirty="0"/>
          </a:p>
        </p:txBody>
      </p:sp>
      <p:sp>
        <p:nvSpPr>
          <p:cNvPr id="11" name="Shape 9"/>
          <p:cNvSpPr/>
          <p:nvPr/>
        </p:nvSpPr>
        <p:spPr>
          <a:xfrm>
            <a:off x="7995682" y="2581275"/>
            <a:ext cx="3380343" cy="1776730"/>
          </a:xfrm>
          <a:prstGeom prst="roundRect">
            <a:avLst>
              <a:gd name="adj" fmla="val 5540"/>
            </a:avLst>
          </a:prstGeom>
          <a:solidFill>
            <a:srgbClr val="1C2D35"/>
          </a:solidFill>
          <a:ln w="6350">
            <a:solidFill>
              <a:srgbClr val="2BFF1A"/>
            </a:solidFill>
            <a:prstDash val="solid"/>
          </a:ln>
        </p:spPr>
      </p:sp>
      <p:sp>
        <p:nvSpPr>
          <p:cNvPr id="12" name="Text 10"/>
          <p:cNvSpPr/>
          <p:nvPr/>
        </p:nvSpPr>
        <p:spPr>
          <a:xfrm>
            <a:off x="8251587" y="2837179"/>
            <a:ext cx="295458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FC233"/>
                </a:solidFill>
                <a:latin typeface="Roboto Mono" pitchFamily="34" charset="0"/>
                <a:ea typeface="Roboto Mono" pitchFamily="34" charset="-122"/>
                <a:cs typeface="Roboto Mono" pitchFamily="34" charset="-120"/>
              </a:rPr>
              <a:t>Faster options</a:t>
            </a:r>
            <a:endParaRPr lang="en-US" sz="2200" dirty="0"/>
          </a:p>
        </p:txBody>
      </p:sp>
      <p:sp>
        <p:nvSpPr>
          <p:cNvPr id="13" name="Text 11"/>
          <p:cNvSpPr/>
          <p:nvPr/>
        </p:nvSpPr>
        <p:spPr>
          <a:xfrm>
            <a:off x="8251587" y="3248664"/>
            <a:ext cx="2954589"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2F7F4"/>
                </a:solidFill>
                <a:latin typeface="Roboto Mono" pitchFamily="34" charset="0"/>
                <a:ea typeface="Roboto Mono" pitchFamily="34" charset="-122"/>
                <a:cs typeface="Roboto Mono" pitchFamily="34" charset="-120"/>
              </a:rPr>
              <a:t>Carry-lookahead adders trade extra gates for much lower delay.</a:t>
            </a:r>
            <a:endParaRPr lang="en-US" sz="1600" dirty="0"/>
          </a:p>
        </p:txBody>
      </p:sp>
      <p:sp>
        <p:nvSpPr>
          <p:cNvPr id="14" name="Text 12"/>
          <p:cNvSpPr/>
          <p:nvPr/>
        </p:nvSpPr>
        <p:spPr>
          <a:xfrm>
            <a:off x="812800" y="6238242"/>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D4C0"/>
                </a:solidFill>
                <a:latin typeface="Roboto Mono" pitchFamily="34" charset="0"/>
                <a:ea typeface="Roboto Mono" pitchFamily="34" charset="-122"/>
                <a:cs typeface="Roboto Mono" pitchFamily="34" charset="-120"/>
              </a:rPr>
              <a:t>4-Bit Ripple Carry Adder</a:t>
            </a:r>
            <a:endParaRPr lang="en-US" sz="1200" dirty="0"/>
          </a:p>
        </p:txBody>
      </p:sp>
      <p:sp>
        <p:nvSpPr>
          <p:cNvPr id="15" name="Text 13"/>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D4C0"/>
                </a:solidFill>
                <a:latin typeface="Roboto Mono" pitchFamily="34" charset="0"/>
                <a:ea typeface="Roboto Mono" pitchFamily="34" charset="-122"/>
                <a:cs typeface="Roboto Mon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C2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5426"/>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2BFF1A"/>
                </a:solidFill>
                <a:latin typeface="Roboto Mono" pitchFamily="34" charset="0"/>
                <a:ea typeface="Roboto Mono" pitchFamily="34" charset="-122"/>
                <a:cs typeface="Roboto Mono" pitchFamily="34" charset="-120"/>
              </a:rPr>
              <a:t>SECTION 4</a:t>
            </a:r>
            <a:endParaRPr lang="en-US" sz="1196" dirty="0"/>
          </a:p>
        </p:txBody>
      </p:sp>
      <p:sp>
        <p:nvSpPr>
          <p:cNvPr id="3" name="Text 1"/>
          <p:cNvSpPr>
            <a:spLocks noGrp="1"/>
          </p:cNvSpPr>
          <p:nvPr>
            <p:ph type="title"/>
          </p:nvPr>
        </p:nvSpPr>
        <p:spPr>
          <a:xfrm>
            <a:off x="812800" y="1099027"/>
            <a:ext cx="10883392" cy="520462"/>
          </a:xfrm>
          <a:prstGeom prst="rect">
            <a:avLst/>
          </a:prstGeom>
          <a:noFill/>
          <a:ln/>
        </p:spPr>
        <p:txBody>
          <a:bodyPr wrap="square" lIns="0" tIns="0" rIns="0" bIns="0" rtlCol="0" anchor="t">
            <a:normAutofit/>
          </a:bodyPr>
          <a:lstStyle/>
          <a:p>
            <a:pPr marL="0" indent="0" algn="l">
              <a:lnSpc>
                <a:spcPts val="3923"/>
              </a:lnSpc>
              <a:buNone/>
            </a:pPr>
            <a:r>
              <a:rPr lang="en-US" sz="3566" b="1" i="0" dirty="0">
                <a:solidFill>
                  <a:srgbClr val="2BFF1A"/>
                </a:solidFill>
                <a:latin typeface="Rajdhani" pitchFamily="34" charset="0"/>
                <a:ea typeface="Rajdhani" pitchFamily="34" charset="-122"/>
                <a:cs typeface="Rajdhani" pitchFamily="34" charset="-120"/>
              </a:rPr>
              <a:t>GitHub Repository</a:t>
            </a:r>
            <a:endParaRPr lang="en-US" sz="3566" dirty="0"/>
          </a:p>
        </p:txBody>
      </p:sp>
      <p:sp>
        <p:nvSpPr>
          <p:cNvPr id="4" name="Shape 2"/>
          <p:cNvSpPr/>
          <p:nvPr/>
        </p:nvSpPr>
        <p:spPr>
          <a:xfrm>
            <a:off x="812800" y="1848092"/>
            <a:ext cx="10566400" cy="741283"/>
          </a:xfrm>
          <a:prstGeom prst="roundRect">
            <a:avLst>
              <a:gd name="adj" fmla="val 13706"/>
            </a:avLst>
          </a:prstGeom>
          <a:solidFill>
            <a:srgbClr val="0A1216"/>
          </a:solidFill>
          <a:ln w="15875">
            <a:solidFill>
              <a:srgbClr val="2BFF1A"/>
            </a:solidFill>
          </a:ln>
        </p:spPr>
        <p:txBody>
          <a:bodyPr/>
          <a:lstStyle/>
          <a:p>
            <a:pPr algn="ctr" fontAlgn="ctr">
              <a:buNone/>
            </a:pPr>
            <a:r>
              <a:rPr lang="en-IN" u="sng">
                <a:hlinkClick r:id="rId3"/>
              </a:rPr>
              <a:t>https://github.com/kalidasyuteshkumar-collab/KLH-FED-2026-Session10-Batch-04</a:t>
            </a:r>
            <a:endParaRPr lang="en-IN" u="sng" dirty="0">
              <a:solidFill>
                <a:srgbClr val="1155CC"/>
              </a:solidFill>
              <a:latin typeface="Arial" panose="020B0604020202020204" pitchFamily="34" charset="0"/>
            </a:endParaRPr>
          </a:p>
        </p:txBody>
      </p:sp>
      <p:sp>
        <p:nvSpPr>
          <p:cNvPr id="5" name="Text 3"/>
          <p:cNvSpPr/>
          <p:nvPr/>
        </p:nvSpPr>
        <p:spPr>
          <a:xfrm>
            <a:off x="1066800" y="2025892"/>
            <a:ext cx="10360152" cy="411083"/>
          </a:xfrm>
          <a:prstGeom prst="rect">
            <a:avLst/>
          </a:prstGeom>
          <a:noFill/>
          <a:ln/>
        </p:spPr>
        <p:txBody>
          <a:bodyPr wrap="square" lIns="0" tIns="0" rIns="0" bIns="0" rtlCol="0" anchor="t">
            <a:normAutofit/>
          </a:bodyPr>
          <a:lstStyle/>
          <a:p>
            <a:pPr marL="0" indent="0" algn="l">
              <a:lnSpc>
                <a:spcPts val="3070"/>
              </a:lnSpc>
              <a:buNone/>
            </a:pPr>
            <a:endParaRPr lang="en-US" sz="2193" dirty="0"/>
          </a:p>
        </p:txBody>
      </p:sp>
      <p:sp>
        <p:nvSpPr>
          <p:cNvPr id="6" name="Shape 4"/>
          <p:cNvSpPr/>
          <p:nvPr/>
        </p:nvSpPr>
        <p:spPr>
          <a:xfrm>
            <a:off x="815975" y="2846549"/>
            <a:ext cx="10560050" cy="533479"/>
          </a:xfrm>
          <a:prstGeom prst="roundRect">
            <a:avLst>
              <a:gd name="adj" fmla="val 18450"/>
            </a:avLst>
          </a:prstGeom>
          <a:solidFill>
            <a:srgbClr val="17262D"/>
          </a:solidFill>
          <a:ln w="6350">
            <a:solidFill>
              <a:srgbClr val="2F4A3A"/>
            </a:solidFill>
            <a:prstDash val="solid"/>
          </a:ln>
        </p:spPr>
      </p:sp>
      <p:sp>
        <p:nvSpPr>
          <p:cNvPr id="7" name="Text 5"/>
          <p:cNvSpPr/>
          <p:nvPr/>
        </p:nvSpPr>
        <p:spPr>
          <a:xfrm>
            <a:off x="1021080" y="2971087"/>
            <a:ext cx="39243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BFF1A"/>
                </a:solidFill>
                <a:latin typeface="Roboto Mono" pitchFamily="49" charset="0"/>
                <a:ea typeface="Roboto Mono" pitchFamily="49" charset="-122"/>
                <a:cs typeface="Roboto Mono" pitchFamily="49" charset="-120"/>
              </a:rPr>
              <a:t>README.md</a:t>
            </a:r>
            <a:endParaRPr lang="en-US" sz="1600" dirty="0"/>
          </a:p>
        </p:txBody>
      </p:sp>
      <p:sp>
        <p:nvSpPr>
          <p:cNvPr id="8" name="Text 6"/>
          <p:cNvSpPr/>
          <p:nvPr/>
        </p:nvSpPr>
        <p:spPr>
          <a:xfrm>
            <a:off x="5034280" y="2971087"/>
            <a:ext cx="6320739"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Project overview and how to run the demo</a:t>
            </a:r>
            <a:endParaRPr lang="en-US" sz="1600" dirty="0"/>
          </a:p>
        </p:txBody>
      </p:sp>
      <p:sp>
        <p:nvSpPr>
          <p:cNvPr id="9" name="Shape 7"/>
          <p:cNvSpPr/>
          <p:nvPr/>
        </p:nvSpPr>
        <p:spPr>
          <a:xfrm>
            <a:off x="815975" y="3487979"/>
            <a:ext cx="10560050" cy="533479"/>
          </a:xfrm>
          <a:prstGeom prst="roundRect">
            <a:avLst>
              <a:gd name="adj" fmla="val 18450"/>
            </a:avLst>
          </a:prstGeom>
          <a:solidFill>
            <a:srgbClr val="17262D"/>
          </a:solidFill>
          <a:ln w="6350">
            <a:solidFill>
              <a:srgbClr val="2F4A3A"/>
            </a:solidFill>
            <a:prstDash val="solid"/>
          </a:ln>
        </p:spPr>
      </p:sp>
      <p:sp>
        <p:nvSpPr>
          <p:cNvPr id="10" name="Text 8"/>
          <p:cNvSpPr/>
          <p:nvPr/>
        </p:nvSpPr>
        <p:spPr>
          <a:xfrm>
            <a:off x="1021080" y="3612517"/>
            <a:ext cx="39243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BFF1A"/>
                </a:solidFill>
                <a:latin typeface="Roboto Mono" pitchFamily="49" charset="0"/>
                <a:ea typeface="Roboto Mono" pitchFamily="49" charset="-122"/>
                <a:cs typeface="Roboto Mono" pitchFamily="49" charset="-120"/>
              </a:rPr>
              <a:t>ripple_carry_adder.circ</a:t>
            </a:r>
            <a:endParaRPr lang="en-US" sz="1600" dirty="0"/>
          </a:p>
        </p:txBody>
      </p:sp>
      <p:sp>
        <p:nvSpPr>
          <p:cNvPr id="11" name="Text 9"/>
          <p:cNvSpPr/>
          <p:nvPr/>
        </p:nvSpPr>
        <p:spPr>
          <a:xfrm>
            <a:off x="5034280" y="3612517"/>
            <a:ext cx="6320739"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Logisim circuit with the FullAdder sub-circuit</a:t>
            </a:r>
            <a:endParaRPr lang="en-US" sz="1600" dirty="0"/>
          </a:p>
        </p:txBody>
      </p:sp>
      <p:sp>
        <p:nvSpPr>
          <p:cNvPr id="12" name="Shape 10"/>
          <p:cNvSpPr/>
          <p:nvPr/>
        </p:nvSpPr>
        <p:spPr>
          <a:xfrm>
            <a:off x="815975" y="4129404"/>
            <a:ext cx="10560050" cy="533479"/>
          </a:xfrm>
          <a:prstGeom prst="roundRect">
            <a:avLst>
              <a:gd name="adj" fmla="val 18450"/>
            </a:avLst>
          </a:prstGeom>
          <a:solidFill>
            <a:srgbClr val="17262D"/>
          </a:solidFill>
          <a:ln w="6350">
            <a:solidFill>
              <a:srgbClr val="2F4A3A"/>
            </a:solidFill>
            <a:prstDash val="solid"/>
          </a:ln>
        </p:spPr>
      </p:sp>
      <p:sp>
        <p:nvSpPr>
          <p:cNvPr id="13" name="Text 11"/>
          <p:cNvSpPr/>
          <p:nvPr/>
        </p:nvSpPr>
        <p:spPr>
          <a:xfrm>
            <a:off x="1021080" y="4253948"/>
            <a:ext cx="39243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BFF1A"/>
                </a:solidFill>
                <a:latin typeface="Roboto Mono" pitchFamily="49" charset="0"/>
                <a:ea typeface="Roboto Mono" pitchFamily="49" charset="-122"/>
                <a:cs typeface="Roboto Mono" pitchFamily="49" charset="-120"/>
              </a:rPr>
              <a:t>screenshots/</a:t>
            </a:r>
            <a:endParaRPr lang="en-US" sz="1600" dirty="0"/>
          </a:p>
        </p:txBody>
      </p:sp>
      <p:sp>
        <p:nvSpPr>
          <p:cNvPr id="14" name="Text 12"/>
          <p:cNvSpPr/>
          <p:nvPr/>
        </p:nvSpPr>
        <p:spPr>
          <a:xfrm>
            <a:off x="5034280" y="4253948"/>
            <a:ext cx="6320739"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Circuit and test-case images</a:t>
            </a:r>
            <a:endParaRPr lang="en-US" sz="1600" dirty="0"/>
          </a:p>
        </p:txBody>
      </p:sp>
      <p:sp>
        <p:nvSpPr>
          <p:cNvPr id="15" name="Shape 13"/>
          <p:cNvSpPr/>
          <p:nvPr/>
        </p:nvSpPr>
        <p:spPr>
          <a:xfrm>
            <a:off x="815975" y="4770834"/>
            <a:ext cx="10560050" cy="533479"/>
          </a:xfrm>
          <a:prstGeom prst="roundRect">
            <a:avLst>
              <a:gd name="adj" fmla="val 18450"/>
            </a:avLst>
          </a:prstGeom>
          <a:solidFill>
            <a:srgbClr val="17262D"/>
          </a:solidFill>
          <a:ln w="6350">
            <a:solidFill>
              <a:srgbClr val="2F4A3A"/>
            </a:solidFill>
            <a:prstDash val="solid"/>
          </a:ln>
        </p:spPr>
      </p:sp>
      <p:sp>
        <p:nvSpPr>
          <p:cNvPr id="16" name="Text 14"/>
          <p:cNvSpPr/>
          <p:nvPr/>
        </p:nvSpPr>
        <p:spPr>
          <a:xfrm>
            <a:off x="1021080" y="4895373"/>
            <a:ext cx="39243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BFF1A"/>
                </a:solidFill>
                <a:latin typeface="Roboto Mono" pitchFamily="49" charset="0"/>
                <a:ea typeface="Roboto Mono" pitchFamily="49" charset="-122"/>
                <a:cs typeface="Roboto Mono" pitchFamily="49" charset="-120"/>
              </a:rPr>
              <a:t>slides/</a:t>
            </a:r>
            <a:endParaRPr lang="en-US" sz="1600" dirty="0"/>
          </a:p>
        </p:txBody>
      </p:sp>
      <p:sp>
        <p:nvSpPr>
          <p:cNvPr id="17" name="Text 15"/>
          <p:cNvSpPr/>
          <p:nvPr/>
        </p:nvSpPr>
        <p:spPr>
          <a:xfrm>
            <a:off x="5034280" y="4895373"/>
            <a:ext cx="6320739"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9B8B0"/>
                </a:solidFill>
                <a:latin typeface="Roboto Mono" pitchFamily="34" charset="0"/>
                <a:ea typeface="Roboto Mono" pitchFamily="34" charset="-122"/>
                <a:cs typeface="Roboto Mono" pitchFamily="34" charset="-120"/>
              </a:rPr>
              <a:t>This presentation</a:t>
            </a:r>
            <a:endParaRPr lang="en-US" sz="1600" dirty="0"/>
          </a:p>
        </p:txBody>
      </p:sp>
      <p:sp>
        <p:nvSpPr>
          <p:cNvPr id="18" name="Text 16"/>
          <p:cNvSpPr/>
          <p:nvPr/>
        </p:nvSpPr>
        <p:spPr>
          <a:xfrm>
            <a:off x="812800" y="5561490"/>
            <a:ext cx="10883392" cy="305911"/>
          </a:xfrm>
          <a:prstGeom prst="rect">
            <a:avLst/>
          </a:prstGeom>
          <a:noFill/>
          <a:ln/>
        </p:spPr>
        <p:txBody>
          <a:bodyPr wrap="square" lIns="0" tIns="0" rIns="0" bIns="0" rtlCol="0" anchor="t">
            <a:normAutofit/>
          </a:bodyPr>
          <a:lstStyle/>
          <a:p>
            <a:pPr marL="0" indent="0" algn="l">
              <a:lnSpc>
                <a:spcPts val="2219"/>
              </a:lnSpc>
              <a:buNone/>
            </a:pPr>
            <a:r>
              <a:rPr lang="en-US" sz="1585" dirty="0">
                <a:solidFill>
                  <a:srgbClr val="A9B8B0"/>
                </a:solidFill>
                <a:latin typeface="Roboto Mono" pitchFamily="34" charset="0"/>
                <a:ea typeface="Roboto Mono" pitchFamily="34" charset="-122"/>
                <a:cs typeface="Roboto Mono" pitchFamily="34" charset="-120"/>
              </a:rPr>
              <a:t>Clone the repository, open the .circ file in Logisim and use the Poke tool to test it.</a:t>
            </a:r>
            <a:endParaRPr lang="en-US" sz="1585" dirty="0"/>
          </a:p>
        </p:txBody>
      </p:sp>
      <p:sp>
        <p:nvSpPr>
          <p:cNvPr id="19" name="Text 17"/>
          <p:cNvSpPr/>
          <p:nvPr/>
        </p:nvSpPr>
        <p:spPr>
          <a:xfrm>
            <a:off x="812800" y="6238242"/>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8B0"/>
                </a:solidFill>
                <a:latin typeface="Roboto Mono" pitchFamily="34" charset="0"/>
                <a:ea typeface="Roboto Mono" pitchFamily="34" charset="-122"/>
                <a:cs typeface="Roboto Mono" pitchFamily="34" charset="-120"/>
              </a:rPr>
              <a:t>4-Bit Ripple Carry Adder</a:t>
            </a:r>
            <a:endParaRPr lang="en-US" sz="1200" dirty="0"/>
          </a:p>
        </p:txBody>
      </p:sp>
      <p:sp>
        <p:nvSpPr>
          <p:cNvPr id="20" name="Text 18"/>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B8B0"/>
                </a:solidFill>
                <a:latin typeface="Roboto Mono" pitchFamily="34" charset="0"/>
                <a:ea typeface="Roboto Mono" pitchFamily="34" charset="-122"/>
                <a:cs typeface="Roboto Mono" pitchFamily="34" charset="-120"/>
              </a:rPr>
              <a:t>13</a:t>
            </a:r>
            <a:endParaRPr lang="en-US" sz="1200" dirty="0"/>
          </a:p>
        </p:txBody>
      </p:sp>
    </p:spTree>
  </p:cSld>
  <p:clrMapOvr>
    <a:masterClrMapping/>
  </p:clrMapOvr>
</p:sld>
</file>

<file path=ppt/theme/theme1.xml><?xml version="1.0" encoding="utf-8"?>
<a:theme xmlns:a="http://schemas.openxmlformats.org/drawingml/2006/main" name="4-Bit Ripple Carry Adder">
  <a:themeElements>
    <a:clrScheme name="4-Bit Ripple Carry Adder">
      <a:dk1>
        <a:srgbClr val="F2F7F4"/>
      </a:dk1>
      <a:lt1>
        <a:srgbClr val="121C22"/>
      </a:lt1>
      <a:dk2>
        <a:srgbClr val="A9B8B0"/>
      </a:dk2>
      <a:lt2>
        <a:srgbClr val="1C2D35"/>
      </a:lt2>
      <a:accent1>
        <a:srgbClr val="2BFF1A"/>
      </a:accent1>
      <a:accent2>
        <a:srgbClr val="FFC233"/>
      </a:accent2>
      <a:accent3>
        <a:srgbClr val="FF8A3D"/>
      </a:accent3>
      <a:accent4>
        <a:srgbClr val="A9B8B0"/>
      </a:accent4>
      <a:accent5>
        <a:srgbClr val="B8D4C0"/>
      </a:accent5>
      <a:accent6>
        <a:srgbClr val="6E8A78"/>
      </a:accent6>
      <a:hlink>
        <a:srgbClr val="0563C1"/>
      </a:hlink>
      <a:folHlink>
        <a:srgbClr val="954F72"/>
      </a:folHlink>
    </a:clrScheme>
    <a:fontScheme name="4-Bit Ripple Carry Adder">
      <a:majorFont>
        <a:latin typeface="Rajdhan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1732</Words>
  <Application>Microsoft Office PowerPoint</Application>
  <PresentationFormat>Widescreen</PresentationFormat>
  <Paragraphs>315</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Rajdhani</vt:lpstr>
      <vt:lpstr>Roboto Mono</vt:lpstr>
      <vt:lpstr>4-Bit Ripple Carry Adder</vt:lpstr>
      <vt:lpstr>4-Bit Ripple Carry Adder</vt:lpstr>
      <vt:lpstr>Problem Statement</vt:lpstr>
      <vt:lpstr>Full Adder Truth Table</vt:lpstr>
      <vt:lpstr>Full Adder from Gates</vt:lpstr>
      <vt:lpstr>4-Bit Ripple Carry Adder</vt:lpstr>
      <vt:lpstr>Design Methodology</vt:lpstr>
      <vt:lpstr>Worked Example: 1011 + 0110</vt:lpstr>
      <vt:lpstr>Carry Propagation Delay</vt:lpstr>
      <vt:lpstr>Delay Grows with Word Length</vt:lpstr>
      <vt:lpstr>Demo in Logisim</vt:lpstr>
      <vt:lpstr>Test Cases for the Demo</vt:lpstr>
      <vt:lpstr>Conclusion</vt:lpstr>
      <vt:lpstr>GitHub Repository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4-Bit Ripple Carry Adder</dc:title>
  <dc:subject/>
  <dc:creator/>
  <cp:lastModifiedBy>aviyah.bonela@outlook.com</cp:lastModifiedBy>
  <cp:revision>5</cp:revision>
  <dcterms:created xsi:type="dcterms:W3CDTF">2026-10-14T12:13:57Z</dcterms:created>
  <dcterms:modified xsi:type="dcterms:W3CDTF">2026-10-15T03:16:32Z</dcterms:modified>
</cp:coreProperties>
</file>